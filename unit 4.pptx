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57" r:id="rId3"/>
    <p:sldId id="259" r:id="rId4"/>
    <p:sldId id="260" r:id="rId5"/>
    <p:sldId id="261" r:id="rId6"/>
    <p:sldId id="262" r:id="rId7"/>
    <p:sldId id="263" r:id="rId8"/>
    <p:sldId id="264" r:id="rId9"/>
    <p:sldId id="265" r:id="rId10"/>
    <p:sldId id="267" r:id="rId11"/>
    <p:sldId id="268" r:id="rId12"/>
    <p:sldId id="269" r:id="rId13"/>
    <p:sldId id="270" r:id="rId14"/>
    <p:sldId id="271" r:id="rId15"/>
    <p:sldId id="272" r:id="rId16"/>
    <p:sldId id="273" r:id="rId17"/>
    <p:sldId id="274" r:id="rId18"/>
    <p:sldId id="275" r:id="rId19"/>
    <p:sldId id="266" r:id="rId20"/>
    <p:sldId id="276" r:id="rId21"/>
    <p:sldId id="307" r:id="rId22"/>
    <p:sldId id="277" r:id="rId23"/>
    <p:sldId id="308" r:id="rId24"/>
    <p:sldId id="278" r:id="rId25"/>
    <p:sldId id="279" r:id="rId26"/>
    <p:sldId id="280" r:id="rId27"/>
    <p:sldId id="281" r:id="rId28"/>
    <p:sldId id="282"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1" d="100"/>
          <a:sy n="61" d="100"/>
        </p:scale>
        <p:origin x="1098" y="60"/>
      </p:cViewPr>
      <p:guideLst/>
    </p:cSldViewPr>
  </p:slideViewPr>
  <p:notesTextViewPr>
    <p:cViewPr>
      <p:scale>
        <a:sx n="1" d="1"/>
        <a:sy n="1" d="1"/>
      </p:scale>
      <p:origin x="0" y="-156"/>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9F620D-EBFF-41F3-AB7D-985B88B5B08A}" type="datetimeFigureOut">
              <a:rPr lang="en-IN" smtClean="0"/>
              <a:t>01-10-2026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BB2AC6-BCDA-4074-8E05-B6748723EA2A}" type="slidenum">
              <a:rPr lang="en-IN" smtClean="0"/>
              <a:t>‹#›</a:t>
            </a:fld>
            <a:endParaRPr lang="en-IN"/>
          </a:p>
        </p:txBody>
      </p:sp>
    </p:spTree>
    <p:extLst>
      <p:ext uri="{BB962C8B-B14F-4D97-AF65-F5344CB8AC3E}">
        <p14:creationId xmlns:p14="http://schemas.microsoft.com/office/powerpoint/2010/main" val="6750480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dirty="0">
                <a:effectLst/>
                <a:latin typeface="Times New Roman" panose="02020603050405020304" pitchFamily="18" charset="0"/>
                <a:cs typeface="Times New Roman" panose="02020603050405020304" pitchFamily="18" charset="0"/>
              </a:rPr>
              <a:t>verifying the interactions and data exchange between different components or modules </a:t>
            </a:r>
          </a:p>
          <a:p>
            <a:endParaRPr lang="en-US" sz="1200" b="0" i="0" dirty="0">
              <a:effectLst/>
              <a:latin typeface="Times New Roman" panose="02020603050405020304" pitchFamily="18" charset="0"/>
              <a:cs typeface="Times New Roman" panose="02020603050405020304" pitchFamily="18" charset="0"/>
            </a:endParaRPr>
          </a:p>
          <a:p>
            <a:r>
              <a:rPr lang="en-US" sz="1200" b="0" i="0">
                <a:effectLst/>
                <a:latin typeface="Times New Roman" panose="02020603050405020304" pitchFamily="18" charset="0"/>
                <a:cs typeface="Times New Roman" panose="02020603050405020304" pitchFamily="18" charset="0"/>
              </a:rPr>
              <a:t>After unit-test, </a:t>
            </a:r>
            <a:r>
              <a:rPr lang="en-US" sz="1200" b="0" i="0" dirty="0">
                <a:effectLst/>
                <a:latin typeface="Times New Roman" panose="02020603050405020304" pitchFamily="18" charset="0"/>
                <a:cs typeface="Times New Roman" panose="02020603050405020304" pitchFamily="18" charset="0"/>
              </a:rPr>
              <a:t>integration testing is performed.</a:t>
            </a:r>
            <a:endParaRPr lang="en-IN" dirty="0"/>
          </a:p>
        </p:txBody>
      </p:sp>
      <p:sp>
        <p:nvSpPr>
          <p:cNvPr id="4" name="Slide Number Placeholder 3"/>
          <p:cNvSpPr>
            <a:spLocks noGrp="1"/>
          </p:cNvSpPr>
          <p:nvPr>
            <p:ph type="sldNum" sz="quarter" idx="5"/>
          </p:nvPr>
        </p:nvSpPr>
        <p:spPr/>
        <p:txBody>
          <a:bodyPr/>
          <a:lstStyle/>
          <a:p>
            <a:fld id="{FBBB2AC6-BCDA-4074-8E05-B6748723EA2A}" type="slidenum">
              <a:rPr lang="en-IN" smtClean="0"/>
              <a:t>6</a:t>
            </a:fld>
            <a:endParaRPr lang="en-IN"/>
          </a:p>
        </p:txBody>
      </p:sp>
    </p:spTree>
    <p:extLst>
      <p:ext uri="{BB962C8B-B14F-4D97-AF65-F5344CB8AC3E}">
        <p14:creationId xmlns:p14="http://schemas.microsoft.com/office/powerpoint/2010/main" val="23767454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dirty="0">
                <a:effectLst/>
                <a:latin typeface="Times New Roman" panose="02020603050405020304" pitchFamily="18" charset="0"/>
                <a:cs typeface="Times New Roman" panose="02020603050405020304" pitchFamily="18" charset="0"/>
              </a:rPr>
              <a:t>Validation Testing ensures that the product actually meets the client's needs</a:t>
            </a:r>
            <a:endParaRPr lang="en-IN" dirty="0"/>
          </a:p>
        </p:txBody>
      </p:sp>
      <p:sp>
        <p:nvSpPr>
          <p:cNvPr id="4" name="Slide Number Placeholder 3"/>
          <p:cNvSpPr>
            <a:spLocks noGrp="1"/>
          </p:cNvSpPr>
          <p:nvPr>
            <p:ph type="sldNum" sz="quarter" idx="5"/>
          </p:nvPr>
        </p:nvSpPr>
        <p:spPr/>
        <p:txBody>
          <a:bodyPr/>
          <a:lstStyle/>
          <a:p>
            <a:fld id="{FBBB2AC6-BCDA-4074-8E05-B6748723EA2A}" type="slidenum">
              <a:rPr lang="en-IN" smtClean="0"/>
              <a:t>9</a:t>
            </a:fld>
            <a:endParaRPr lang="en-IN"/>
          </a:p>
        </p:txBody>
      </p:sp>
    </p:spTree>
    <p:extLst>
      <p:ext uri="{BB962C8B-B14F-4D97-AF65-F5344CB8AC3E}">
        <p14:creationId xmlns:p14="http://schemas.microsoft.com/office/powerpoint/2010/main" val="12870073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effectLst/>
                <a:latin typeface="Times New Roman" panose="02020603050405020304" pitchFamily="18" charset="0"/>
                <a:cs typeface="Times New Roman" panose="02020603050405020304" pitchFamily="18" charset="0"/>
              </a:rPr>
              <a:t>Structural Testing or </a:t>
            </a:r>
            <a:r>
              <a:rPr lang="en-US" sz="1200" b="0" i="0">
                <a:effectLst/>
                <a:latin typeface="Times New Roman" panose="02020603050405020304" pitchFamily="18" charset="0"/>
                <a:cs typeface="Times New Roman" panose="02020603050405020304" pitchFamily="18" charset="0"/>
              </a:rPr>
              <a:t>Code-based Testing</a:t>
            </a:r>
            <a:br>
              <a:rPr lang="en-US" sz="1200" b="0" i="0">
                <a:effectLst/>
                <a:latin typeface="Times New Roman" panose="02020603050405020304" pitchFamily="18" charset="0"/>
                <a:cs typeface="Times New Roman" panose="02020603050405020304" pitchFamily="18" charset="0"/>
              </a:rPr>
            </a:br>
            <a:r>
              <a:rPr lang="en-US" sz="1200" b="0" i="0">
                <a:effectLst/>
                <a:latin typeface="Times New Roman" panose="02020603050405020304" pitchFamily="18" charset="0"/>
                <a:cs typeface="Times New Roman" panose="02020603050405020304" pitchFamily="18" charset="0"/>
              </a:rPr>
              <a:t>and it is used to test the software’s internal logic, flow, and structure.</a:t>
            </a:r>
          </a:p>
          <a:p>
            <a:endParaRPr lang="en-IN" dirty="0"/>
          </a:p>
        </p:txBody>
      </p:sp>
      <p:sp>
        <p:nvSpPr>
          <p:cNvPr id="4" name="Slide Number Placeholder 3"/>
          <p:cNvSpPr>
            <a:spLocks noGrp="1"/>
          </p:cNvSpPr>
          <p:nvPr>
            <p:ph type="sldNum" sz="quarter" idx="5"/>
          </p:nvPr>
        </p:nvSpPr>
        <p:spPr/>
        <p:txBody>
          <a:bodyPr/>
          <a:lstStyle/>
          <a:p>
            <a:fld id="{FBBB2AC6-BCDA-4074-8E05-B6748723EA2A}" type="slidenum">
              <a:rPr lang="en-IN" smtClean="0"/>
              <a:t>13</a:t>
            </a:fld>
            <a:endParaRPr lang="en-IN"/>
          </a:p>
        </p:txBody>
      </p:sp>
    </p:spTree>
    <p:extLst>
      <p:ext uri="{BB962C8B-B14F-4D97-AF65-F5344CB8AC3E}">
        <p14:creationId xmlns:p14="http://schemas.microsoft.com/office/powerpoint/2010/main" val="40064407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E2729-9DF3-A9D6-DA34-962CBF4DD53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7FFC2C2-80F4-D8B9-98D3-6043EDA0EE2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3E269C0-4330-A2EF-2EAB-DAF9831615C1}"/>
              </a:ext>
            </a:extLst>
          </p:cNvPr>
          <p:cNvSpPr>
            <a:spLocks noGrp="1"/>
          </p:cNvSpPr>
          <p:nvPr>
            <p:ph type="dt" sz="half" idx="10"/>
          </p:nvPr>
        </p:nvSpPr>
        <p:spPr/>
        <p:txBody>
          <a:bodyPr/>
          <a:lstStyle/>
          <a:p>
            <a:fld id="{409CF7CF-C9BC-4D5B-9666-68CD24966E6C}" type="datetimeFigureOut">
              <a:rPr lang="en-IN" smtClean="0"/>
              <a:t>01-10-2026</a:t>
            </a:fld>
            <a:endParaRPr lang="en-IN"/>
          </a:p>
        </p:txBody>
      </p:sp>
      <p:sp>
        <p:nvSpPr>
          <p:cNvPr id="5" name="Footer Placeholder 4">
            <a:extLst>
              <a:ext uri="{FF2B5EF4-FFF2-40B4-BE49-F238E27FC236}">
                <a16:creationId xmlns:a16="http://schemas.microsoft.com/office/drawing/2014/main" id="{F5F30CDE-9B7F-1DFE-DCE7-87B208B0604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44F8DA-19DB-AE07-B9A9-1621C9AEFB80}"/>
              </a:ext>
            </a:extLst>
          </p:cNvPr>
          <p:cNvSpPr>
            <a:spLocks noGrp="1"/>
          </p:cNvSpPr>
          <p:nvPr>
            <p:ph type="sldNum" sz="quarter" idx="12"/>
          </p:nvPr>
        </p:nvSpPr>
        <p:spPr/>
        <p:txBody>
          <a:bodyPr/>
          <a:lstStyle/>
          <a:p>
            <a:fld id="{940766A0-708D-4A40-B348-8AF04BDD20D8}" type="slidenum">
              <a:rPr lang="en-IN" smtClean="0"/>
              <a:t>‹#›</a:t>
            </a:fld>
            <a:endParaRPr lang="en-IN"/>
          </a:p>
        </p:txBody>
      </p:sp>
    </p:spTree>
    <p:extLst>
      <p:ext uri="{BB962C8B-B14F-4D97-AF65-F5344CB8AC3E}">
        <p14:creationId xmlns:p14="http://schemas.microsoft.com/office/powerpoint/2010/main" val="2236491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69AB9-B401-911F-77B2-52044A68042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FE6F7EC-B8A6-C934-3556-EDD11AD4362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1D7C9CA-7CD6-A235-12E0-56A5F48BAE7D}"/>
              </a:ext>
            </a:extLst>
          </p:cNvPr>
          <p:cNvSpPr>
            <a:spLocks noGrp="1"/>
          </p:cNvSpPr>
          <p:nvPr>
            <p:ph type="dt" sz="half" idx="10"/>
          </p:nvPr>
        </p:nvSpPr>
        <p:spPr/>
        <p:txBody>
          <a:bodyPr/>
          <a:lstStyle/>
          <a:p>
            <a:fld id="{409CF7CF-C9BC-4D5B-9666-68CD24966E6C}" type="datetimeFigureOut">
              <a:rPr lang="en-IN" smtClean="0"/>
              <a:t>01-10-2026</a:t>
            </a:fld>
            <a:endParaRPr lang="en-IN"/>
          </a:p>
        </p:txBody>
      </p:sp>
      <p:sp>
        <p:nvSpPr>
          <p:cNvPr id="5" name="Footer Placeholder 4">
            <a:extLst>
              <a:ext uri="{FF2B5EF4-FFF2-40B4-BE49-F238E27FC236}">
                <a16:creationId xmlns:a16="http://schemas.microsoft.com/office/drawing/2014/main" id="{2184789F-D34E-90EE-48D4-EDA2E8B8294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5DFFD4D-0A18-D514-B25C-5914C2412499}"/>
              </a:ext>
            </a:extLst>
          </p:cNvPr>
          <p:cNvSpPr>
            <a:spLocks noGrp="1"/>
          </p:cNvSpPr>
          <p:nvPr>
            <p:ph type="sldNum" sz="quarter" idx="12"/>
          </p:nvPr>
        </p:nvSpPr>
        <p:spPr/>
        <p:txBody>
          <a:bodyPr/>
          <a:lstStyle/>
          <a:p>
            <a:fld id="{940766A0-708D-4A40-B348-8AF04BDD20D8}" type="slidenum">
              <a:rPr lang="en-IN" smtClean="0"/>
              <a:t>‹#›</a:t>
            </a:fld>
            <a:endParaRPr lang="en-IN"/>
          </a:p>
        </p:txBody>
      </p:sp>
    </p:spTree>
    <p:extLst>
      <p:ext uri="{BB962C8B-B14F-4D97-AF65-F5344CB8AC3E}">
        <p14:creationId xmlns:p14="http://schemas.microsoft.com/office/powerpoint/2010/main" val="15111756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30A30-F4C5-74D0-2B15-1965DFC0C08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9F0B8C4-9CAA-6083-4F39-A0DBFAFBAA9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00C7655-D40B-0424-5BB2-FF75C256D3D5}"/>
              </a:ext>
            </a:extLst>
          </p:cNvPr>
          <p:cNvSpPr>
            <a:spLocks noGrp="1"/>
          </p:cNvSpPr>
          <p:nvPr>
            <p:ph type="dt" sz="half" idx="10"/>
          </p:nvPr>
        </p:nvSpPr>
        <p:spPr/>
        <p:txBody>
          <a:bodyPr/>
          <a:lstStyle/>
          <a:p>
            <a:fld id="{409CF7CF-C9BC-4D5B-9666-68CD24966E6C}" type="datetimeFigureOut">
              <a:rPr lang="en-IN" smtClean="0"/>
              <a:t>01-10-2026</a:t>
            </a:fld>
            <a:endParaRPr lang="en-IN"/>
          </a:p>
        </p:txBody>
      </p:sp>
      <p:sp>
        <p:nvSpPr>
          <p:cNvPr id="5" name="Footer Placeholder 4">
            <a:extLst>
              <a:ext uri="{FF2B5EF4-FFF2-40B4-BE49-F238E27FC236}">
                <a16:creationId xmlns:a16="http://schemas.microsoft.com/office/drawing/2014/main" id="{8C2782B8-13DA-9BDC-EA60-DF3076C0544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ACA7EDE-CC3B-8A48-5B38-2127E17F662D}"/>
              </a:ext>
            </a:extLst>
          </p:cNvPr>
          <p:cNvSpPr>
            <a:spLocks noGrp="1"/>
          </p:cNvSpPr>
          <p:nvPr>
            <p:ph type="sldNum" sz="quarter" idx="12"/>
          </p:nvPr>
        </p:nvSpPr>
        <p:spPr/>
        <p:txBody>
          <a:bodyPr/>
          <a:lstStyle/>
          <a:p>
            <a:fld id="{940766A0-708D-4A40-B348-8AF04BDD20D8}" type="slidenum">
              <a:rPr lang="en-IN" smtClean="0"/>
              <a:t>‹#›</a:t>
            </a:fld>
            <a:endParaRPr lang="en-IN"/>
          </a:p>
        </p:txBody>
      </p:sp>
    </p:spTree>
    <p:extLst>
      <p:ext uri="{BB962C8B-B14F-4D97-AF65-F5344CB8AC3E}">
        <p14:creationId xmlns:p14="http://schemas.microsoft.com/office/powerpoint/2010/main" val="21340842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61043-9555-09EA-1804-1B4EF2581B9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BC59DDF-32F3-01E4-8CA2-44D18786F3D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69AB6AE-C81B-E58F-5AC0-3C594B593BA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CF05FF0-F5EE-896F-E5C3-6E48C8958ED6}"/>
              </a:ext>
            </a:extLst>
          </p:cNvPr>
          <p:cNvSpPr>
            <a:spLocks noGrp="1"/>
          </p:cNvSpPr>
          <p:nvPr>
            <p:ph type="dt" sz="half" idx="10"/>
          </p:nvPr>
        </p:nvSpPr>
        <p:spPr/>
        <p:txBody>
          <a:bodyPr/>
          <a:lstStyle/>
          <a:p>
            <a:fld id="{409CF7CF-C9BC-4D5B-9666-68CD24966E6C}" type="datetimeFigureOut">
              <a:rPr lang="en-IN" smtClean="0"/>
              <a:t>01-10-2026</a:t>
            </a:fld>
            <a:endParaRPr lang="en-IN"/>
          </a:p>
        </p:txBody>
      </p:sp>
      <p:sp>
        <p:nvSpPr>
          <p:cNvPr id="6" name="Footer Placeholder 5">
            <a:extLst>
              <a:ext uri="{FF2B5EF4-FFF2-40B4-BE49-F238E27FC236}">
                <a16:creationId xmlns:a16="http://schemas.microsoft.com/office/drawing/2014/main" id="{56695905-A32F-8516-1DAE-5E373B5573E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21B2F0B-5423-9E7F-5400-01DD7C31975F}"/>
              </a:ext>
            </a:extLst>
          </p:cNvPr>
          <p:cNvSpPr>
            <a:spLocks noGrp="1"/>
          </p:cNvSpPr>
          <p:nvPr>
            <p:ph type="sldNum" sz="quarter" idx="12"/>
          </p:nvPr>
        </p:nvSpPr>
        <p:spPr/>
        <p:txBody>
          <a:bodyPr/>
          <a:lstStyle/>
          <a:p>
            <a:fld id="{940766A0-708D-4A40-B348-8AF04BDD20D8}" type="slidenum">
              <a:rPr lang="en-IN" smtClean="0"/>
              <a:t>‹#›</a:t>
            </a:fld>
            <a:endParaRPr lang="en-IN"/>
          </a:p>
        </p:txBody>
      </p:sp>
    </p:spTree>
    <p:extLst>
      <p:ext uri="{BB962C8B-B14F-4D97-AF65-F5344CB8AC3E}">
        <p14:creationId xmlns:p14="http://schemas.microsoft.com/office/powerpoint/2010/main" val="38399297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9059E-BF45-C079-FDF0-C03164D0742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80276E3-8C74-C662-548F-362DC75AAB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8E3A7E5-BBDF-81B9-BA03-E67F9672ECB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DF0CBB0-614C-F4EE-6FF7-E7C8103BD1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56963A-9319-F91F-1201-C756E7A9AC7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A47A2F0-8E8C-3615-DF35-32F1AAC720F6}"/>
              </a:ext>
            </a:extLst>
          </p:cNvPr>
          <p:cNvSpPr>
            <a:spLocks noGrp="1"/>
          </p:cNvSpPr>
          <p:nvPr>
            <p:ph type="dt" sz="half" idx="10"/>
          </p:nvPr>
        </p:nvSpPr>
        <p:spPr/>
        <p:txBody>
          <a:bodyPr/>
          <a:lstStyle/>
          <a:p>
            <a:fld id="{409CF7CF-C9BC-4D5B-9666-68CD24966E6C}" type="datetimeFigureOut">
              <a:rPr lang="en-IN" smtClean="0"/>
              <a:t>01-10-2026</a:t>
            </a:fld>
            <a:endParaRPr lang="en-IN"/>
          </a:p>
        </p:txBody>
      </p:sp>
      <p:sp>
        <p:nvSpPr>
          <p:cNvPr id="8" name="Footer Placeholder 7">
            <a:extLst>
              <a:ext uri="{FF2B5EF4-FFF2-40B4-BE49-F238E27FC236}">
                <a16:creationId xmlns:a16="http://schemas.microsoft.com/office/drawing/2014/main" id="{22082E80-B638-6786-D90C-8861227890A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86DE362-F419-D247-2237-74E50237A930}"/>
              </a:ext>
            </a:extLst>
          </p:cNvPr>
          <p:cNvSpPr>
            <a:spLocks noGrp="1"/>
          </p:cNvSpPr>
          <p:nvPr>
            <p:ph type="sldNum" sz="quarter" idx="12"/>
          </p:nvPr>
        </p:nvSpPr>
        <p:spPr/>
        <p:txBody>
          <a:bodyPr/>
          <a:lstStyle/>
          <a:p>
            <a:fld id="{940766A0-708D-4A40-B348-8AF04BDD20D8}" type="slidenum">
              <a:rPr lang="en-IN" smtClean="0"/>
              <a:t>‹#›</a:t>
            </a:fld>
            <a:endParaRPr lang="en-IN"/>
          </a:p>
        </p:txBody>
      </p:sp>
    </p:spTree>
    <p:extLst>
      <p:ext uri="{BB962C8B-B14F-4D97-AF65-F5344CB8AC3E}">
        <p14:creationId xmlns:p14="http://schemas.microsoft.com/office/powerpoint/2010/main" val="14281790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8263F-A900-7B97-DEA2-5C9C1B89879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C510D40-9888-5F77-2BC2-F48D87072D77}"/>
              </a:ext>
            </a:extLst>
          </p:cNvPr>
          <p:cNvSpPr>
            <a:spLocks noGrp="1"/>
          </p:cNvSpPr>
          <p:nvPr>
            <p:ph type="dt" sz="half" idx="10"/>
          </p:nvPr>
        </p:nvSpPr>
        <p:spPr/>
        <p:txBody>
          <a:bodyPr/>
          <a:lstStyle/>
          <a:p>
            <a:fld id="{409CF7CF-C9BC-4D5B-9666-68CD24966E6C}" type="datetimeFigureOut">
              <a:rPr lang="en-IN" smtClean="0"/>
              <a:t>01-10-2026</a:t>
            </a:fld>
            <a:endParaRPr lang="en-IN"/>
          </a:p>
        </p:txBody>
      </p:sp>
      <p:sp>
        <p:nvSpPr>
          <p:cNvPr id="4" name="Footer Placeholder 3">
            <a:extLst>
              <a:ext uri="{FF2B5EF4-FFF2-40B4-BE49-F238E27FC236}">
                <a16:creationId xmlns:a16="http://schemas.microsoft.com/office/drawing/2014/main" id="{3500EBB9-5ECC-5861-F115-EC8B7DFEF34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544DD54-622A-03D7-5FCF-673C892E7EC1}"/>
              </a:ext>
            </a:extLst>
          </p:cNvPr>
          <p:cNvSpPr>
            <a:spLocks noGrp="1"/>
          </p:cNvSpPr>
          <p:nvPr>
            <p:ph type="sldNum" sz="quarter" idx="12"/>
          </p:nvPr>
        </p:nvSpPr>
        <p:spPr/>
        <p:txBody>
          <a:bodyPr/>
          <a:lstStyle/>
          <a:p>
            <a:fld id="{940766A0-708D-4A40-B348-8AF04BDD20D8}" type="slidenum">
              <a:rPr lang="en-IN" smtClean="0"/>
              <a:t>‹#›</a:t>
            </a:fld>
            <a:endParaRPr lang="en-IN"/>
          </a:p>
        </p:txBody>
      </p:sp>
    </p:spTree>
    <p:extLst>
      <p:ext uri="{BB962C8B-B14F-4D97-AF65-F5344CB8AC3E}">
        <p14:creationId xmlns:p14="http://schemas.microsoft.com/office/powerpoint/2010/main" val="22799363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57E050-2746-51F4-AC83-BEA1A531B499}"/>
              </a:ext>
            </a:extLst>
          </p:cNvPr>
          <p:cNvSpPr>
            <a:spLocks noGrp="1"/>
          </p:cNvSpPr>
          <p:nvPr>
            <p:ph type="dt" sz="half" idx="10"/>
          </p:nvPr>
        </p:nvSpPr>
        <p:spPr/>
        <p:txBody>
          <a:bodyPr/>
          <a:lstStyle/>
          <a:p>
            <a:fld id="{409CF7CF-C9BC-4D5B-9666-68CD24966E6C}" type="datetimeFigureOut">
              <a:rPr lang="en-IN" smtClean="0"/>
              <a:t>01-10-2026</a:t>
            </a:fld>
            <a:endParaRPr lang="en-IN"/>
          </a:p>
        </p:txBody>
      </p:sp>
      <p:sp>
        <p:nvSpPr>
          <p:cNvPr id="3" name="Footer Placeholder 2">
            <a:extLst>
              <a:ext uri="{FF2B5EF4-FFF2-40B4-BE49-F238E27FC236}">
                <a16:creationId xmlns:a16="http://schemas.microsoft.com/office/drawing/2014/main" id="{0424F020-FB5E-0340-1167-A495073A53E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8DA2A27-714F-FC8E-D58E-768E5E80BA84}"/>
              </a:ext>
            </a:extLst>
          </p:cNvPr>
          <p:cNvSpPr>
            <a:spLocks noGrp="1"/>
          </p:cNvSpPr>
          <p:nvPr>
            <p:ph type="sldNum" sz="quarter" idx="12"/>
          </p:nvPr>
        </p:nvSpPr>
        <p:spPr/>
        <p:txBody>
          <a:bodyPr/>
          <a:lstStyle/>
          <a:p>
            <a:fld id="{940766A0-708D-4A40-B348-8AF04BDD20D8}" type="slidenum">
              <a:rPr lang="en-IN" smtClean="0"/>
              <a:t>‹#›</a:t>
            </a:fld>
            <a:endParaRPr lang="en-IN"/>
          </a:p>
        </p:txBody>
      </p:sp>
    </p:spTree>
    <p:extLst>
      <p:ext uri="{BB962C8B-B14F-4D97-AF65-F5344CB8AC3E}">
        <p14:creationId xmlns:p14="http://schemas.microsoft.com/office/powerpoint/2010/main" val="9268776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40DFE-E153-8212-55E7-AA767822BC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EA03B97-B517-0A69-F76B-A9979ED993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F19A973-1FF1-A35F-2D14-33C2537F03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108E36-D638-C559-DCC0-82027792892C}"/>
              </a:ext>
            </a:extLst>
          </p:cNvPr>
          <p:cNvSpPr>
            <a:spLocks noGrp="1"/>
          </p:cNvSpPr>
          <p:nvPr>
            <p:ph type="dt" sz="half" idx="10"/>
          </p:nvPr>
        </p:nvSpPr>
        <p:spPr/>
        <p:txBody>
          <a:bodyPr/>
          <a:lstStyle/>
          <a:p>
            <a:fld id="{409CF7CF-C9BC-4D5B-9666-68CD24966E6C}" type="datetimeFigureOut">
              <a:rPr lang="en-IN" smtClean="0"/>
              <a:t>01-10-2026</a:t>
            </a:fld>
            <a:endParaRPr lang="en-IN"/>
          </a:p>
        </p:txBody>
      </p:sp>
      <p:sp>
        <p:nvSpPr>
          <p:cNvPr id="6" name="Footer Placeholder 5">
            <a:extLst>
              <a:ext uri="{FF2B5EF4-FFF2-40B4-BE49-F238E27FC236}">
                <a16:creationId xmlns:a16="http://schemas.microsoft.com/office/drawing/2014/main" id="{402694BF-5B8B-C418-3292-F61619EC349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9EC276E-442A-9E80-B2CC-64C5EBE61D60}"/>
              </a:ext>
            </a:extLst>
          </p:cNvPr>
          <p:cNvSpPr>
            <a:spLocks noGrp="1"/>
          </p:cNvSpPr>
          <p:nvPr>
            <p:ph type="sldNum" sz="quarter" idx="12"/>
          </p:nvPr>
        </p:nvSpPr>
        <p:spPr/>
        <p:txBody>
          <a:bodyPr/>
          <a:lstStyle/>
          <a:p>
            <a:fld id="{940766A0-708D-4A40-B348-8AF04BDD20D8}" type="slidenum">
              <a:rPr lang="en-IN" smtClean="0"/>
              <a:t>‹#›</a:t>
            </a:fld>
            <a:endParaRPr lang="en-IN"/>
          </a:p>
        </p:txBody>
      </p:sp>
    </p:spTree>
    <p:extLst>
      <p:ext uri="{BB962C8B-B14F-4D97-AF65-F5344CB8AC3E}">
        <p14:creationId xmlns:p14="http://schemas.microsoft.com/office/powerpoint/2010/main" val="28981527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DA368-1050-EA64-897E-C991B4C465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DDE20E7-6DA0-E563-DDCB-97B72A7DF71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E9C14DA-9359-1D40-F253-02226B70A0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85DE15-D72F-85B6-EE1D-BFD64FF1A2DA}"/>
              </a:ext>
            </a:extLst>
          </p:cNvPr>
          <p:cNvSpPr>
            <a:spLocks noGrp="1"/>
          </p:cNvSpPr>
          <p:nvPr>
            <p:ph type="dt" sz="half" idx="10"/>
          </p:nvPr>
        </p:nvSpPr>
        <p:spPr/>
        <p:txBody>
          <a:bodyPr/>
          <a:lstStyle/>
          <a:p>
            <a:fld id="{409CF7CF-C9BC-4D5B-9666-68CD24966E6C}" type="datetimeFigureOut">
              <a:rPr lang="en-IN" smtClean="0"/>
              <a:t>01-10-2026</a:t>
            </a:fld>
            <a:endParaRPr lang="en-IN"/>
          </a:p>
        </p:txBody>
      </p:sp>
      <p:sp>
        <p:nvSpPr>
          <p:cNvPr id="6" name="Footer Placeholder 5">
            <a:extLst>
              <a:ext uri="{FF2B5EF4-FFF2-40B4-BE49-F238E27FC236}">
                <a16:creationId xmlns:a16="http://schemas.microsoft.com/office/drawing/2014/main" id="{023BB710-EC5B-6F74-2A24-CB2192C74D5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C1383AF-FE3A-213E-DD2F-2438FD25F402}"/>
              </a:ext>
            </a:extLst>
          </p:cNvPr>
          <p:cNvSpPr>
            <a:spLocks noGrp="1"/>
          </p:cNvSpPr>
          <p:nvPr>
            <p:ph type="sldNum" sz="quarter" idx="12"/>
          </p:nvPr>
        </p:nvSpPr>
        <p:spPr/>
        <p:txBody>
          <a:bodyPr/>
          <a:lstStyle/>
          <a:p>
            <a:fld id="{940766A0-708D-4A40-B348-8AF04BDD20D8}" type="slidenum">
              <a:rPr lang="en-IN" smtClean="0"/>
              <a:t>‹#›</a:t>
            </a:fld>
            <a:endParaRPr lang="en-IN"/>
          </a:p>
        </p:txBody>
      </p:sp>
    </p:spTree>
    <p:extLst>
      <p:ext uri="{BB962C8B-B14F-4D97-AF65-F5344CB8AC3E}">
        <p14:creationId xmlns:p14="http://schemas.microsoft.com/office/powerpoint/2010/main" val="8733405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16699-EBCD-976B-3839-EA58E0681E5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D308FB6-A220-A998-1614-ECCF39CEFC3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983B1BB-A3BB-08AB-C7F0-B8074F0505BD}"/>
              </a:ext>
            </a:extLst>
          </p:cNvPr>
          <p:cNvSpPr>
            <a:spLocks noGrp="1"/>
          </p:cNvSpPr>
          <p:nvPr>
            <p:ph type="dt" sz="half" idx="10"/>
          </p:nvPr>
        </p:nvSpPr>
        <p:spPr/>
        <p:txBody>
          <a:bodyPr/>
          <a:lstStyle/>
          <a:p>
            <a:fld id="{409CF7CF-C9BC-4D5B-9666-68CD24966E6C}" type="datetimeFigureOut">
              <a:rPr lang="en-IN" smtClean="0"/>
              <a:t>01-10-2026</a:t>
            </a:fld>
            <a:endParaRPr lang="en-IN"/>
          </a:p>
        </p:txBody>
      </p:sp>
      <p:sp>
        <p:nvSpPr>
          <p:cNvPr id="5" name="Footer Placeholder 4">
            <a:extLst>
              <a:ext uri="{FF2B5EF4-FFF2-40B4-BE49-F238E27FC236}">
                <a16:creationId xmlns:a16="http://schemas.microsoft.com/office/drawing/2014/main" id="{298C3083-1534-A2D3-56B9-6CD0EBEE2F0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7A65D68-4B8A-55FA-2851-4085311028CB}"/>
              </a:ext>
            </a:extLst>
          </p:cNvPr>
          <p:cNvSpPr>
            <a:spLocks noGrp="1"/>
          </p:cNvSpPr>
          <p:nvPr>
            <p:ph type="sldNum" sz="quarter" idx="12"/>
          </p:nvPr>
        </p:nvSpPr>
        <p:spPr/>
        <p:txBody>
          <a:bodyPr/>
          <a:lstStyle/>
          <a:p>
            <a:fld id="{940766A0-708D-4A40-B348-8AF04BDD20D8}" type="slidenum">
              <a:rPr lang="en-IN" smtClean="0"/>
              <a:t>‹#›</a:t>
            </a:fld>
            <a:endParaRPr lang="en-IN"/>
          </a:p>
        </p:txBody>
      </p:sp>
    </p:spTree>
    <p:extLst>
      <p:ext uri="{BB962C8B-B14F-4D97-AF65-F5344CB8AC3E}">
        <p14:creationId xmlns:p14="http://schemas.microsoft.com/office/powerpoint/2010/main" val="2518261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9A2D798-99E4-871A-1412-F0B713BCC09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AB32B67-ED78-95E3-AB32-B43701B5C1B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891273C-6CE6-812C-E574-848F0B8739A1}"/>
              </a:ext>
            </a:extLst>
          </p:cNvPr>
          <p:cNvSpPr>
            <a:spLocks noGrp="1"/>
          </p:cNvSpPr>
          <p:nvPr>
            <p:ph type="dt" sz="half" idx="10"/>
          </p:nvPr>
        </p:nvSpPr>
        <p:spPr/>
        <p:txBody>
          <a:bodyPr/>
          <a:lstStyle/>
          <a:p>
            <a:fld id="{409CF7CF-C9BC-4D5B-9666-68CD24966E6C}" type="datetimeFigureOut">
              <a:rPr lang="en-IN" smtClean="0"/>
              <a:t>01-10-2026</a:t>
            </a:fld>
            <a:endParaRPr lang="en-IN"/>
          </a:p>
        </p:txBody>
      </p:sp>
      <p:sp>
        <p:nvSpPr>
          <p:cNvPr id="5" name="Footer Placeholder 4">
            <a:extLst>
              <a:ext uri="{FF2B5EF4-FFF2-40B4-BE49-F238E27FC236}">
                <a16:creationId xmlns:a16="http://schemas.microsoft.com/office/drawing/2014/main" id="{A196018F-B9FE-957D-023A-61D15554F32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54839D-8977-6D0D-A203-61998AACA725}"/>
              </a:ext>
            </a:extLst>
          </p:cNvPr>
          <p:cNvSpPr>
            <a:spLocks noGrp="1"/>
          </p:cNvSpPr>
          <p:nvPr>
            <p:ph type="sldNum" sz="quarter" idx="12"/>
          </p:nvPr>
        </p:nvSpPr>
        <p:spPr/>
        <p:txBody>
          <a:bodyPr/>
          <a:lstStyle/>
          <a:p>
            <a:fld id="{940766A0-708D-4A40-B348-8AF04BDD20D8}" type="slidenum">
              <a:rPr lang="en-IN" smtClean="0"/>
              <a:t>‹#›</a:t>
            </a:fld>
            <a:endParaRPr lang="en-IN"/>
          </a:p>
        </p:txBody>
      </p:sp>
    </p:spTree>
    <p:extLst>
      <p:ext uri="{BB962C8B-B14F-4D97-AF65-F5344CB8AC3E}">
        <p14:creationId xmlns:p14="http://schemas.microsoft.com/office/powerpoint/2010/main" val="10753886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592E9C3-C067-A175-D07D-076E5BDDBF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07A7841-7B12-0FE4-1C50-25886BCF82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42BDF2D-C93A-3520-6394-9771C49BF79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9CF7CF-C9BC-4D5B-9666-68CD24966E6C}" type="datetimeFigureOut">
              <a:rPr lang="en-IN" smtClean="0"/>
              <a:t>01-10-2026</a:t>
            </a:fld>
            <a:endParaRPr lang="en-IN"/>
          </a:p>
        </p:txBody>
      </p:sp>
      <p:sp>
        <p:nvSpPr>
          <p:cNvPr id="5" name="Footer Placeholder 4">
            <a:extLst>
              <a:ext uri="{FF2B5EF4-FFF2-40B4-BE49-F238E27FC236}">
                <a16:creationId xmlns:a16="http://schemas.microsoft.com/office/drawing/2014/main" id="{1EC81838-5395-4DF2-D9C6-BA9383E78C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9AD06EE-38EE-14A9-D842-D386F619422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0766A0-708D-4A40-B348-8AF04BDD20D8}" type="slidenum">
              <a:rPr lang="en-IN" smtClean="0"/>
              <a:t>‹#›</a:t>
            </a:fld>
            <a:endParaRPr lang="en-IN"/>
          </a:p>
        </p:txBody>
      </p:sp>
    </p:spTree>
    <p:extLst>
      <p:ext uri="{BB962C8B-B14F-4D97-AF65-F5344CB8AC3E}">
        <p14:creationId xmlns:p14="http://schemas.microsoft.com/office/powerpoint/2010/main" val="3096889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432FD936-FCBE-DAFB-0F69-34D2F649FD6D}"/>
              </a:ext>
            </a:extLst>
          </p:cNvPr>
          <p:cNvGraphicFramePr>
            <a:graphicFrameLocks noGrp="1"/>
          </p:cNvGraphicFramePr>
          <p:nvPr>
            <p:extLst>
              <p:ext uri="{D42A27DB-BD31-4B8C-83A1-F6EECF244321}">
                <p14:modId xmlns:p14="http://schemas.microsoft.com/office/powerpoint/2010/main" val="3873084158"/>
              </p:ext>
            </p:extLst>
          </p:nvPr>
        </p:nvGraphicFramePr>
        <p:xfrm>
          <a:off x="1427884" y="2337262"/>
          <a:ext cx="9336232" cy="1645920"/>
        </p:xfrm>
        <a:graphic>
          <a:graphicData uri="http://schemas.openxmlformats.org/drawingml/2006/table">
            <a:tbl>
              <a:tblPr>
                <a:tableStyleId>{5C22544A-7EE6-4342-B048-85BDC9FD1C3A}</a:tableStyleId>
              </a:tblPr>
              <a:tblGrid>
                <a:gridCol w="9336232">
                  <a:extLst>
                    <a:ext uri="{9D8B030D-6E8A-4147-A177-3AD203B41FA5}">
                      <a16:colId xmlns:a16="http://schemas.microsoft.com/office/drawing/2014/main" val="3563245706"/>
                    </a:ext>
                  </a:extLst>
                </a:gridCol>
              </a:tblGrid>
              <a:tr h="548005">
                <a:tc>
                  <a:txBody>
                    <a:bodyPr/>
                    <a:lstStyle/>
                    <a:p>
                      <a:pPr algn="ctr"/>
                      <a:r>
                        <a:rPr lang="en-IN" sz="3600" b="1" dirty="0">
                          <a:effectLst/>
                          <a:latin typeface="Times New Roman" panose="02020603050405020304" pitchFamily="18" charset="0"/>
                          <a:cs typeface="Times New Roman" panose="02020603050405020304" pitchFamily="18" charset="0"/>
                        </a:rPr>
                        <a:t>UNIT – 4</a:t>
                      </a:r>
                    </a:p>
                    <a:p>
                      <a:pPr algn="ctr"/>
                      <a:endParaRPr lang="en-IN" sz="3600" b="1" dirty="0">
                        <a:effectLst/>
                        <a:latin typeface="Times New Roman" panose="02020603050405020304" pitchFamily="18" charset="0"/>
                        <a:cs typeface="Times New Roman" panose="02020603050405020304" pitchFamily="18" charset="0"/>
                      </a:endParaRPr>
                    </a:p>
                    <a:p>
                      <a:pPr algn="ctr"/>
                      <a:r>
                        <a:rPr lang="en-IN" sz="3600" b="1" dirty="0">
                          <a:effectLst/>
                          <a:latin typeface="Times New Roman" panose="02020603050405020304" pitchFamily="18" charset="0"/>
                          <a:cs typeface="Times New Roman" panose="02020603050405020304" pitchFamily="18" charset="0"/>
                        </a:rPr>
                        <a:t>Software Testing Fundamentals and Levels</a:t>
                      </a:r>
                      <a:endParaRPr lang="en-IN" sz="36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3025" marR="73025" marT="0" marB="0">
                    <a:solidFill>
                      <a:schemeClr val="bg1"/>
                    </a:solidFill>
                  </a:tcPr>
                </a:tc>
                <a:extLst>
                  <a:ext uri="{0D108BD9-81ED-4DB2-BD59-A6C34878D82A}">
                    <a16:rowId xmlns:a16="http://schemas.microsoft.com/office/drawing/2014/main" val="3119416951"/>
                  </a:ext>
                </a:extLst>
              </a:tr>
            </a:tbl>
          </a:graphicData>
        </a:graphic>
      </p:graphicFrame>
    </p:spTree>
    <p:extLst>
      <p:ext uri="{BB962C8B-B14F-4D97-AF65-F5344CB8AC3E}">
        <p14:creationId xmlns:p14="http://schemas.microsoft.com/office/powerpoint/2010/main" val="1158476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5D8DE67-F380-7714-BD4D-5AD0F2A4ABB5}"/>
              </a:ext>
            </a:extLst>
          </p:cNvPr>
          <p:cNvSpPr txBox="1"/>
          <p:nvPr/>
        </p:nvSpPr>
        <p:spPr>
          <a:xfrm>
            <a:off x="387924" y="337538"/>
            <a:ext cx="11000509" cy="2980624"/>
          </a:xfrm>
          <a:prstGeom prst="rect">
            <a:avLst/>
          </a:prstGeom>
          <a:noFill/>
        </p:spPr>
        <p:txBody>
          <a:bodyPr wrap="square">
            <a:spAutoFit/>
          </a:bodyPr>
          <a:lstStyle/>
          <a:p>
            <a:pPr algn="just">
              <a:lnSpc>
                <a:spcPct val="150000"/>
              </a:lnSpc>
            </a:pPr>
            <a:r>
              <a:rPr lang="en-US" sz="3200" b="1" dirty="0">
                <a:latin typeface="Times New Roman" panose="02020603050405020304" pitchFamily="18" charset="0"/>
                <a:cs typeface="Times New Roman" panose="02020603050405020304" pitchFamily="18" charset="0"/>
              </a:rPr>
              <a:t>Software Testing Fundamentals</a:t>
            </a:r>
          </a:p>
          <a:p>
            <a:pPr algn="just">
              <a:lnSpc>
                <a:spcPct val="150000"/>
              </a:lnSpc>
            </a:pPr>
            <a:r>
              <a:rPr lang="en-US" sz="2400" dirty="0">
                <a:latin typeface="Times New Roman" panose="02020603050405020304" pitchFamily="18" charset="0"/>
                <a:cs typeface="Times New Roman" panose="02020603050405020304" pitchFamily="18" charset="0"/>
              </a:rPr>
              <a:t>Software testing is the process of evaluating a software system to identify defects and ensure that it meets the specified requirements. The main goal is to </a:t>
            </a:r>
            <a:r>
              <a:rPr lang="en-US" sz="2400" b="1" dirty="0">
                <a:latin typeface="Times New Roman" panose="02020603050405020304" pitchFamily="18" charset="0"/>
                <a:cs typeface="Times New Roman" panose="02020603050405020304" pitchFamily="18" charset="0"/>
              </a:rPr>
              <a:t>detect errors and improve software quality</a:t>
            </a:r>
            <a:r>
              <a:rPr lang="en-US" sz="2400" dirty="0">
                <a:latin typeface="Times New Roman" panose="02020603050405020304" pitchFamily="18" charset="0"/>
                <a:cs typeface="Times New Roman" panose="02020603050405020304" pitchFamily="18" charset="0"/>
              </a:rPr>
              <a:t> before it is delivered to users.</a:t>
            </a:r>
          </a:p>
          <a:p>
            <a:pPr algn="just">
              <a:lnSpc>
                <a:spcPct val="150000"/>
              </a:lnSpc>
            </a:pPr>
            <a:r>
              <a:rPr lang="en-US" sz="2400" dirty="0">
                <a:latin typeface="Times New Roman" panose="02020603050405020304" pitchFamily="18" charset="0"/>
                <a:cs typeface="Times New Roman" panose="02020603050405020304" pitchFamily="18" charset="0"/>
              </a:rPr>
              <a:t>Testing ensures that the system is reliable, efficient, and performs as expected.</a:t>
            </a:r>
          </a:p>
        </p:txBody>
      </p:sp>
      <p:sp>
        <p:nvSpPr>
          <p:cNvPr id="5" name="TextBox 4">
            <a:extLst>
              <a:ext uri="{FF2B5EF4-FFF2-40B4-BE49-F238E27FC236}">
                <a16:creationId xmlns:a16="http://schemas.microsoft.com/office/drawing/2014/main" id="{2C5FC4D3-3748-876B-463A-C32246F6CFCD}"/>
              </a:ext>
            </a:extLst>
          </p:cNvPr>
          <p:cNvSpPr txBox="1"/>
          <p:nvPr/>
        </p:nvSpPr>
        <p:spPr>
          <a:xfrm>
            <a:off x="595744" y="3539838"/>
            <a:ext cx="10792689" cy="2888291"/>
          </a:xfrm>
          <a:prstGeom prst="rect">
            <a:avLst/>
          </a:prstGeom>
          <a:noFill/>
        </p:spPr>
        <p:txBody>
          <a:bodyPr wrap="square">
            <a:spAutoFit/>
          </a:bodyPr>
          <a:lstStyle/>
          <a:p>
            <a:pPr marL="342900" indent="-342900" algn="just" fontAlgn="base">
              <a:lnSpc>
                <a:spcPct val="150000"/>
              </a:lnSpc>
              <a:buFont typeface="Wingdings" panose="05000000000000000000" pitchFamily="2" charset="2"/>
              <a:buChar char="ü"/>
            </a:pPr>
            <a:r>
              <a:rPr lang="en-US" sz="2800" b="1" i="0" dirty="0">
                <a:effectLst/>
                <a:latin typeface="Times New Roman" panose="02020603050405020304" pitchFamily="18" charset="0"/>
                <a:cs typeface="Times New Roman" panose="02020603050405020304" pitchFamily="18" charset="0"/>
              </a:rPr>
              <a:t>Unit Test</a:t>
            </a:r>
          </a:p>
          <a:p>
            <a:pPr algn="just" rtl="0" fontAlgn="base">
              <a:lnSpc>
                <a:spcPct val="150000"/>
              </a:lnSpc>
            </a:pPr>
            <a:r>
              <a:rPr lang="en-US" sz="2400" b="0" i="0" dirty="0">
                <a:effectLst/>
                <a:latin typeface="Times New Roman" panose="02020603050405020304" pitchFamily="18" charset="0"/>
                <a:cs typeface="Times New Roman" panose="02020603050405020304" pitchFamily="18" charset="0"/>
              </a:rPr>
              <a:t>A unit test is a small piece of code that checks if a specific function or method in an application works correctly. It will work as the function inputs and verifying the outputs. These test check that the code work as expected based on the logic the developer intended.</a:t>
            </a:r>
          </a:p>
        </p:txBody>
      </p:sp>
    </p:spTree>
    <p:extLst>
      <p:ext uri="{BB962C8B-B14F-4D97-AF65-F5344CB8AC3E}">
        <p14:creationId xmlns:p14="http://schemas.microsoft.com/office/powerpoint/2010/main" val="23817198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983AB3F-630D-70B0-0328-902FA3B2D02F}"/>
              </a:ext>
            </a:extLst>
          </p:cNvPr>
          <p:cNvSpPr txBox="1"/>
          <p:nvPr/>
        </p:nvSpPr>
        <p:spPr>
          <a:xfrm>
            <a:off x="595745" y="335845"/>
            <a:ext cx="11014364" cy="5756191"/>
          </a:xfrm>
          <a:prstGeom prst="rect">
            <a:avLst/>
          </a:prstGeom>
          <a:noFill/>
        </p:spPr>
        <p:txBody>
          <a:bodyPr wrap="square">
            <a:spAutoFit/>
          </a:bodyPr>
          <a:lstStyle/>
          <a:p>
            <a:pPr algn="just" fontAlgn="base">
              <a:lnSpc>
                <a:spcPct val="150000"/>
              </a:lnSpc>
            </a:pPr>
            <a:r>
              <a:rPr lang="en-US" sz="2800" b="1" i="0" dirty="0">
                <a:solidFill>
                  <a:srgbClr val="273239"/>
                </a:solidFill>
                <a:effectLst/>
                <a:latin typeface="Times New Roman" panose="02020603050405020304" pitchFamily="18" charset="0"/>
                <a:cs typeface="Times New Roman" panose="02020603050405020304" pitchFamily="18" charset="0"/>
              </a:rPr>
              <a:t>Unit testing strategies</a:t>
            </a:r>
          </a:p>
          <a:p>
            <a:pPr algn="just" rtl="0" fontAlgn="base">
              <a:lnSpc>
                <a:spcPct val="150000"/>
              </a:lnSpc>
            </a:pPr>
            <a:r>
              <a:rPr lang="en-US" sz="2200" b="0" i="0" dirty="0">
                <a:solidFill>
                  <a:srgbClr val="273239"/>
                </a:solidFill>
                <a:effectLst/>
                <a:latin typeface="Times New Roman" panose="02020603050405020304" pitchFamily="18" charset="0"/>
                <a:cs typeface="Times New Roman" panose="02020603050405020304" pitchFamily="18" charset="0"/>
              </a:rPr>
              <a:t>To create effective unit tests, follow these basic techniques to ensure all scenarios are covered:</a:t>
            </a:r>
          </a:p>
          <a:p>
            <a:pPr marL="342900" indent="-342900" algn="just" fontAlgn="base">
              <a:lnSpc>
                <a:spcPct val="150000"/>
              </a:lnSpc>
              <a:buFont typeface="Arial" panose="020B0604020202020204" pitchFamily="34" charset="0"/>
              <a:buChar char="•"/>
            </a:pPr>
            <a:r>
              <a:rPr lang="en-US" sz="2200" b="1" i="0" dirty="0">
                <a:solidFill>
                  <a:srgbClr val="273239"/>
                </a:solidFill>
                <a:effectLst/>
                <a:latin typeface="Times New Roman" panose="02020603050405020304" pitchFamily="18" charset="0"/>
                <a:cs typeface="Times New Roman" panose="02020603050405020304" pitchFamily="18" charset="0"/>
              </a:rPr>
              <a:t>Logic checks</a:t>
            </a:r>
            <a:r>
              <a:rPr lang="en-US" sz="2200" b="0" i="0" dirty="0">
                <a:solidFill>
                  <a:srgbClr val="273239"/>
                </a:solidFill>
                <a:effectLst/>
                <a:latin typeface="Times New Roman" panose="02020603050405020304" pitchFamily="18" charset="0"/>
                <a:cs typeface="Times New Roman" panose="02020603050405020304" pitchFamily="18" charset="0"/>
              </a:rPr>
              <a:t>: Verify if the system performs correct calculations and follows the expected path with valid inputs. Check all possible paths through the code are tested.</a:t>
            </a:r>
          </a:p>
          <a:p>
            <a:pPr marL="342900" indent="-342900" algn="just" fontAlgn="base">
              <a:lnSpc>
                <a:spcPct val="150000"/>
              </a:lnSpc>
              <a:buFont typeface="Arial" panose="020B0604020202020204" pitchFamily="34" charset="0"/>
              <a:buChar char="•"/>
            </a:pPr>
            <a:r>
              <a:rPr lang="en-US" sz="2200" b="1" i="0" dirty="0">
                <a:solidFill>
                  <a:srgbClr val="273239"/>
                </a:solidFill>
                <a:effectLst/>
                <a:latin typeface="Times New Roman" panose="02020603050405020304" pitchFamily="18" charset="0"/>
                <a:cs typeface="Times New Roman" panose="02020603050405020304" pitchFamily="18" charset="0"/>
              </a:rPr>
              <a:t>Boundary checks</a:t>
            </a:r>
            <a:r>
              <a:rPr lang="en-US" sz="2200" b="0" i="0" dirty="0">
                <a:solidFill>
                  <a:srgbClr val="273239"/>
                </a:solidFill>
                <a:effectLst/>
                <a:latin typeface="Times New Roman" panose="02020603050405020304" pitchFamily="18" charset="0"/>
                <a:cs typeface="Times New Roman" panose="02020603050405020304" pitchFamily="18" charset="0"/>
              </a:rPr>
              <a:t>: Test how the system handles typical, edge case, and invalid inputs. For example, if an integer between 3 and 7 is expected, check how the system reacts to a 5 (normal), a 3 (edge case), and a 9 (invalid input).</a:t>
            </a:r>
          </a:p>
          <a:p>
            <a:pPr marL="342900" indent="-342900" algn="just" fontAlgn="base">
              <a:lnSpc>
                <a:spcPct val="150000"/>
              </a:lnSpc>
              <a:buFont typeface="Arial" panose="020B0604020202020204" pitchFamily="34" charset="0"/>
              <a:buChar char="•"/>
            </a:pPr>
            <a:r>
              <a:rPr lang="en-US" sz="2200" b="1" i="0" dirty="0">
                <a:solidFill>
                  <a:srgbClr val="273239"/>
                </a:solidFill>
                <a:effectLst/>
                <a:latin typeface="Times New Roman" panose="02020603050405020304" pitchFamily="18" charset="0"/>
                <a:cs typeface="Times New Roman" panose="02020603050405020304" pitchFamily="18" charset="0"/>
              </a:rPr>
              <a:t>Error handling</a:t>
            </a:r>
            <a:r>
              <a:rPr lang="en-US" sz="2200" b="0" i="0" dirty="0">
                <a:solidFill>
                  <a:srgbClr val="273239"/>
                </a:solidFill>
                <a:effectLst/>
                <a:latin typeface="Times New Roman" panose="02020603050405020304" pitchFamily="18" charset="0"/>
                <a:cs typeface="Times New Roman" panose="02020603050405020304" pitchFamily="18" charset="0"/>
              </a:rPr>
              <a:t>: Check the system properly handles errors. Does it prompt for a new input, or does it crash when something goes wrong?</a:t>
            </a:r>
          </a:p>
          <a:p>
            <a:pPr marL="342900" indent="-342900" algn="just" fontAlgn="base">
              <a:lnSpc>
                <a:spcPct val="150000"/>
              </a:lnSpc>
              <a:buFont typeface="Arial" panose="020B0604020202020204" pitchFamily="34" charset="0"/>
              <a:buChar char="•"/>
            </a:pPr>
            <a:r>
              <a:rPr lang="en-US" sz="2200" b="1" i="0" dirty="0">
                <a:solidFill>
                  <a:srgbClr val="273239"/>
                </a:solidFill>
                <a:effectLst/>
                <a:latin typeface="Times New Roman" panose="02020603050405020304" pitchFamily="18" charset="0"/>
                <a:cs typeface="Times New Roman" panose="02020603050405020304" pitchFamily="18" charset="0"/>
              </a:rPr>
              <a:t>Object-oriented checks</a:t>
            </a:r>
            <a:r>
              <a:rPr lang="en-US" sz="2200" b="0" i="0" dirty="0">
                <a:solidFill>
                  <a:srgbClr val="273239"/>
                </a:solidFill>
                <a:effectLst/>
                <a:latin typeface="Times New Roman" panose="02020603050405020304" pitchFamily="18" charset="0"/>
                <a:cs typeface="Times New Roman" panose="02020603050405020304" pitchFamily="18" charset="0"/>
              </a:rPr>
              <a:t>: If the code modifies objects, confirm that the object's state is correctly updated after running the code.</a:t>
            </a:r>
          </a:p>
        </p:txBody>
      </p:sp>
    </p:spTree>
    <p:extLst>
      <p:ext uri="{BB962C8B-B14F-4D97-AF65-F5344CB8AC3E}">
        <p14:creationId xmlns:p14="http://schemas.microsoft.com/office/powerpoint/2010/main" val="18413223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97C0558-4648-CEAF-01B5-F1345C6C97DB}"/>
              </a:ext>
            </a:extLst>
          </p:cNvPr>
          <p:cNvSpPr txBox="1"/>
          <p:nvPr/>
        </p:nvSpPr>
        <p:spPr>
          <a:xfrm>
            <a:off x="761999" y="778822"/>
            <a:ext cx="10141527" cy="4648196"/>
          </a:xfrm>
          <a:prstGeom prst="rect">
            <a:avLst/>
          </a:prstGeom>
          <a:noFill/>
        </p:spPr>
        <p:txBody>
          <a:bodyPr wrap="square">
            <a:spAutoFit/>
          </a:bodyPr>
          <a:lstStyle/>
          <a:p>
            <a:pPr algn="just" fontAlgn="base">
              <a:lnSpc>
                <a:spcPct val="150000"/>
              </a:lnSpc>
            </a:pPr>
            <a:r>
              <a:rPr lang="en-US" sz="2400" b="1" i="0" dirty="0">
                <a:solidFill>
                  <a:srgbClr val="273239"/>
                </a:solidFill>
                <a:effectLst/>
                <a:latin typeface="Times New Roman" panose="02020603050405020304" pitchFamily="18" charset="0"/>
                <a:cs typeface="Times New Roman" panose="02020603050405020304" pitchFamily="18" charset="0"/>
              </a:rPr>
              <a:t>Benefits of Unit Testing</a:t>
            </a:r>
          </a:p>
          <a:p>
            <a:pPr algn="just" rtl="0" fontAlgn="base">
              <a:lnSpc>
                <a:spcPct val="150000"/>
              </a:lnSpc>
            </a:pPr>
            <a:r>
              <a:rPr lang="en-US" sz="2200" b="0" i="0" dirty="0">
                <a:solidFill>
                  <a:srgbClr val="273239"/>
                </a:solidFill>
                <a:effectLst/>
                <a:latin typeface="Times New Roman" panose="02020603050405020304" pitchFamily="18" charset="0"/>
                <a:cs typeface="Times New Roman" panose="02020603050405020304" pitchFamily="18" charset="0"/>
              </a:rPr>
              <a:t>Here are the Unit testing benefits which used in the software development with many ways:</a:t>
            </a:r>
          </a:p>
          <a:p>
            <a:pPr marL="342900" indent="-342900" algn="just" fontAlgn="base">
              <a:lnSpc>
                <a:spcPct val="150000"/>
              </a:lnSpc>
              <a:buFont typeface="Arial" panose="020B0604020202020204" pitchFamily="34" charset="0"/>
              <a:buChar char="•"/>
            </a:pPr>
            <a:r>
              <a:rPr lang="en-US" sz="2200" b="1" i="0" dirty="0">
                <a:solidFill>
                  <a:srgbClr val="273239"/>
                </a:solidFill>
                <a:effectLst/>
                <a:latin typeface="Times New Roman" panose="02020603050405020304" pitchFamily="18" charset="0"/>
                <a:cs typeface="Times New Roman" panose="02020603050405020304" pitchFamily="18" charset="0"/>
              </a:rPr>
              <a:t>Early Detection of Issues:</a:t>
            </a:r>
            <a:r>
              <a:rPr lang="en-US" sz="2200" b="0" i="0" dirty="0">
                <a:solidFill>
                  <a:srgbClr val="273239"/>
                </a:solidFill>
                <a:effectLst/>
                <a:latin typeface="Times New Roman" panose="02020603050405020304" pitchFamily="18" charset="0"/>
                <a:cs typeface="Times New Roman" panose="02020603050405020304" pitchFamily="18" charset="0"/>
              </a:rPr>
              <a:t> Unit testing allows developers to detect and fix issues early in the development process before they become larger and more difficult to fix.</a:t>
            </a:r>
          </a:p>
          <a:p>
            <a:pPr marL="342900" indent="-342900" algn="just" fontAlgn="base">
              <a:lnSpc>
                <a:spcPct val="150000"/>
              </a:lnSpc>
              <a:buFont typeface="Arial" panose="020B0604020202020204" pitchFamily="34" charset="0"/>
              <a:buChar char="•"/>
            </a:pPr>
            <a:r>
              <a:rPr lang="en-US" sz="2200" b="1" i="0" dirty="0">
                <a:solidFill>
                  <a:srgbClr val="273239"/>
                </a:solidFill>
                <a:effectLst/>
                <a:latin typeface="Times New Roman" panose="02020603050405020304" pitchFamily="18" charset="0"/>
                <a:cs typeface="Times New Roman" panose="02020603050405020304" pitchFamily="18" charset="0"/>
              </a:rPr>
              <a:t>Improved Code Quality: </a:t>
            </a:r>
            <a:r>
              <a:rPr lang="en-US" sz="2200" b="0" i="0" dirty="0">
                <a:solidFill>
                  <a:srgbClr val="273239"/>
                </a:solidFill>
                <a:effectLst/>
                <a:latin typeface="Times New Roman" panose="02020603050405020304" pitchFamily="18" charset="0"/>
                <a:cs typeface="Times New Roman" panose="02020603050405020304" pitchFamily="18" charset="0"/>
              </a:rPr>
              <a:t>Unit testing helps to ensure that each unit of code works as intended and meets the requirements, improving the overall quality of the software.</a:t>
            </a:r>
          </a:p>
          <a:p>
            <a:pPr marL="342900" indent="-342900" algn="just" fontAlgn="base">
              <a:lnSpc>
                <a:spcPct val="150000"/>
              </a:lnSpc>
              <a:buFont typeface="Arial" panose="020B0604020202020204" pitchFamily="34" charset="0"/>
              <a:buChar char="•"/>
            </a:pPr>
            <a:r>
              <a:rPr lang="en-US" sz="2200" b="1" i="0" dirty="0">
                <a:solidFill>
                  <a:srgbClr val="273239"/>
                </a:solidFill>
                <a:effectLst/>
                <a:latin typeface="Times New Roman" panose="02020603050405020304" pitchFamily="18" charset="0"/>
                <a:cs typeface="Times New Roman" panose="02020603050405020304" pitchFamily="18" charset="0"/>
              </a:rPr>
              <a:t>Increased Confidence:</a:t>
            </a:r>
            <a:r>
              <a:rPr lang="en-US" sz="2200" b="0" i="0" dirty="0">
                <a:solidFill>
                  <a:srgbClr val="273239"/>
                </a:solidFill>
                <a:effectLst/>
                <a:latin typeface="Times New Roman" panose="02020603050405020304" pitchFamily="18" charset="0"/>
                <a:cs typeface="Times New Roman" panose="02020603050405020304" pitchFamily="18" charset="0"/>
              </a:rPr>
              <a:t> Unit testing provides developers with confidence in their code, as they can validate that each unit of the software is functioning as expected.</a:t>
            </a:r>
          </a:p>
        </p:txBody>
      </p:sp>
    </p:spTree>
    <p:extLst>
      <p:ext uri="{BB962C8B-B14F-4D97-AF65-F5344CB8AC3E}">
        <p14:creationId xmlns:p14="http://schemas.microsoft.com/office/powerpoint/2010/main" val="26619498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1D5F876-2EB1-124D-5460-D54D788C4614}"/>
              </a:ext>
            </a:extLst>
          </p:cNvPr>
          <p:cNvSpPr txBox="1"/>
          <p:nvPr/>
        </p:nvSpPr>
        <p:spPr>
          <a:xfrm>
            <a:off x="547254" y="1127985"/>
            <a:ext cx="11097491" cy="4602029"/>
          </a:xfrm>
          <a:prstGeom prst="rect">
            <a:avLst/>
          </a:prstGeom>
          <a:noFill/>
        </p:spPr>
        <p:txBody>
          <a:bodyPr wrap="square">
            <a:spAutoFit/>
          </a:bodyPr>
          <a:lstStyle/>
          <a:p>
            <a:pPr marL="342900" indent="-342900" algn="just" fontAlgn="base">
              <a:lnSpc>
                <a:spcPct val="150000"/>
              </a:lnSpc>
              <a:buFont typeface="Arial" panose="020B0604020202020204" pitchFamily="34" charset="0"/>
              <a:buChar char="•"/>
            </a:pPr>
            <a:r>
              <a:rPr lang="en-US" sz="2200" b="1" i="0" dirty="0">
                <a:solidFill>
                  <a:srgbClr val="273239"/>
                </a:solidFill>
                <a:effectLst/>
                <a:latin typeface="Times New Roman" panose="02020603050405020304" pitchFamily="18" charset="0"/>
                <a:cs typeface="Times New Roman" panose="02020603050405020304" pitchFamily="18" charset="0"/>
              </a:rPr>
              <a:t>Faster Development: </a:t>
            </a:r>
            <a:r>
              <a:rPr lang="en-US" sz="2200" b="0" i="0" dirty="0">
                <a:solidFill>
                  <a:srgbClr val="273239"/>
                </a:solidFill>
                <a:effectLst/>
                <a:latin typeface="Times New Roman" panose="02020603050405020304" pitchFamily="18" charset="0"/>
                <a:cs typeface="Times New Roman" panose="02020603050405020304" pitchFamily="18" charset="0"/>
              </a:rPr>
              <a:t>Unit testing enables developers to work faster and more efficiently, as they can validate changes to the code without having to wait for the full system to be tested.</a:t>
            </a:r>
          </a:p>
          <a:p>
            <a:pPr marL="342900" indent="-342900" algn="just" fontAlgn="base">
              <a:lnSpc>
                <a:spcPct val="150000"/>
              </a:lnSpc>
              <a:buFont typeface="Arial" panose="020B0604020202020204" pitchFamily="34" charset="0"/>
              <a:buChar char="•"/>
            </a:pPr>
            <a:r>
              <a:rPr lang="en-US" sz="2200" b="1" i="0" dirty="0">
                <a:solidFill>
                  <a:srgbClr val="273239"/>
                </a:solidFill>
                <a:effectLst/>
                <a:latin typeface="Times New Roman" panose="02020603050405020304" pitchFamily="18" charset="0"/>
                <a:cs typeface="Times New Roman" panose="02020603050405020304" pitchFamily="18" charset="0"/>
              </a:rPr>
              <a:t>Better Documentation: </a:t>
            </a:r>
            <a:r>
              <a:rPr lang="en-US" sz="2200" b="0" i="0" dirty="0">
                <a:solidFill>
                  <a:srgbClr val="273239"/>
                </a:solidFill>
                <a:effectLst/>
                <a:latin typeface="Times New Roman" panose="02020603050405020304" pitchFamily="18" charset="0"/>
                <a:cs typeface="Times New Roman" panose="02020603050405020304" pitchFamily="18" charset="0"/>
              </a:rPr>
              <a:t>Unit testing provides clear and concise documentation of the code and its behavior, making it easier for other developers to understand and maintain the software.</a:t>
            </a:r>
          </a:p>
          <a:p>
            <a:pPr marL="342900" indent="-342900" algn="just" fontAlgn="base">
              <a:lnSpc>
                <a:spcPct val="150000"/>
              </a:lnSpc>
              <a:buFont typeface="Arial" panose="020B0604020202020204" pitchFamily="34" charset="0"/>
              <a:buChar char="•"/>
            </a:pPr>
            <a:r>
              <a:rPr lang="en-US" sz="2200" b="1" i="0" dirty="0">
                <a:solidFill>
                  <a:srgbClr val="273239"/>
                </a:solidFill>
                <a:effectLst/>
                <a:latin typeface="Times New Roman" panose="02020603050405020304" pitchFamily="18" charset="0"/>
                <a:cs typeface="Times New Roman" panose="02020603050405020304" pitchFamily="18" charset="0"/>
              </a:rPr>
              <a:t>Facilitation of Refactoring: </a:t>
            </a:r>
            <a:r>
              <a:rPr lang="en-US" sz="2200" b="0" i="0" dirty="0">
                <a:solidFill>
                  <a:srgbClr val="273239"/>
                </a:solidFill>
                <a:effectLst/>
                <a:latin typeface="Times New Roman" panose="02020603050405020304" pitchFamily="18" charset="0"/>
                <a:cs typeface="Times New Roman" panose="02020603050405020304" pitchFamily="18" charset="0"/>
              </a:rPr>
              <a:t>Unit testing enables developers to safely make changes to the code, as they can validate that their changes do not break existing functionality.</a:t>
            </a:r>
          </a:p>
          <a:p>
            <a:pPr marL="342900" indent="-342900" algn="just" fontAlgn="base">
              <a:lnSpc>
                <a:spcPct val="150000"/>
              </a:lnSpc>
              <a:buFont typeface="Arial" panose="020B0604020202020204" pitchFamily="34" charset="0"/>
              <a:buChar char="•"/>
            </a:pPr>
            <a:r>
              <a:rPr lang="en-US" sz="2200" b="1" i="0" dirty="0">
                <a:solidFill>
                  <a:srgbClr val="273239"/>
                </a:solidFill>
                <a:effectLst/>
                <a:latin typeface="Times New Roman" panose="02020603050405020304" pitchFamily="18" charset="0"/>
                <a:cs typeface="Times New Roman" panose="02020603050405020304" pitchFamily="18" charset="0"/>
              </a:rPr>
              <a:t>Reduced Time and Cost: </a:t>
            </a:r>
            <a:r>
              <a:rPr lang="en-US" sz="2200" b="0" i="0" dirty="0">
                <a:solidFill>
                  <a:srgbClr val="273239"/>
                </a:solidFill>
                <a:effectLst/>
                <a:latin typeface="Times New Roman" panose="02020603050405020304" pitchFamily="18" charset="0"/>
                <a:cs typeface="Times New Roman" panose="02020603050405020304" pitchFamily="18" charset="0"/>
              </a:rPr>
              <a:t>Unit testing can reduce the time and cost required for later testing, as it helps to identify and fix issues early in the development process.</a:t>
            </a:r>
          </a:p>
        </p:txBody>
      </p:sp>
    </p:spTree>
    <p:extLst>
      <p:ext uri="{BB962C8B-B14F-4D97-AF65-F5344CB8AC3E}">
        <p14:creationId xmlns:p14="http://schemas.microsoft.com/office/powerpoint/2010/main" val="29738998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6C37FCA-9639-1BE3-178A-93C918ED3A79}"/>
              </a:ext>
            </a:extLst>
          </p:cNvPr>
          <p:cNvSpPr txBox="1"/>
          <p:nvPr/>
        </p:nvSpPr>
        <p:spPr>
          <a:xfrm>
            <a:off x="318655" y="263237"/>
            <a:ext cx="11222182" cy="6125523"/>
          </a:xfrm>
          <a:prstGeom prst="rect">
            <a:avLst/>
          </a:prstGeom>
          <a:noFill/>
        </p:spPr>
        <p:txBody>
          <a:bodyPr wrap="square">
            <a:spAutoFit/>
          </a:bodyPr>
          <a:lstStyle/>
          <a:p>
            <a:pPr marL="342900" indent="-342900" algn="just" rtl="0" fontAlgn="base">
              <a:lnSpc>
                <a:spcPct val="150000"/>
              </a:lnSpc>
              <a:buFont typeface="Wingdings" panose="05000000000000000000" pitchFamily="2" charset="2"/>
              <a:buChar char="ü"/>
            </a:pPr>
            <a:r>
              <a:rPr lang="en-US" sz="2400" b="1" i="0" dirty="0">
                <a:solidFill>
                  <a:srgbClr val="273239"/>
                </a:solidFill>
                <a:effectLst/>
                <a:latin typeface="Times New Roman" panose="02020603050405020304" pitchFamily="18" charset="0"/>
                <a:cs typeface="Times New Roman" panose="02020603050405020304" pitchFamily="18" charset="0"/>
              </a:rPr>
              <a:t>Integration Testing </a:t>
            </a:r>
          </a:p>
          <a:p>
            <a:pPr lvl="1" algn="just" fontAlgn="base">
              <a:lnSpc>
                <a:spcPct val="150000"/>
              </a:lnSpc>
            </a:pPr>
            <a:r>
              <a:rPr lang="en-US" sz="2200" b="0" i="0" dirty="0">
                <a:effectLst/>
                <a:latin typeface="Times New Roman" panose="02020603050405020304" pitchFamily="18" charset="0"/>
                <a:cs typeface="Times New Roman" panose="02020603050405020304" pitchFamily="18" charset="0"/>
              </a:rPr>
              <a:t>Integration Testing is a Software Testing Technique that focuses on verifying the interactions and data exchange between different components or modules of a Software Application. The goal of Integration Testing</a:t>
            </a:r>
            <a:r>
              <a:rPr lang="en-US" sz="2200" b="1" i="0" dirty="0">
                <a:effectLst/>
                <a:latin typeface="Times New Roman" panose="02020603050405020304" pitchFamily="18" charset="0"/>
                <a:cs typeface="Times New Roman" panose="02020603050405020304" pitchFamily="18" charset="0"/>
              </a:rPr>
              <a:t> </a:t>
            </a:r>
            <a:r>
              <a:rPr lang="en-US" sz="2200" b="0" i="0" dirty="0">
                <a:effectLst/>
                <a:latin typeface="Times New Roman" panose="02020603050405020304" pitchFamily="18" charset="0"/>
                <a:cs typeface="Times New Roman" panose="02020603050405020304" pitchFamily="18" charset="0"/>
              </a:rPr>
              <a:t>is to identify any problems or bugs that arise when different components are combined and interact with each other.</a:t>
            </a:r>
          </a:p>
          <a:p>
            <a:pPr marL="800100" lvl="1" indent="-342900" algn="just" fontAlgn="base">
              <a:lnSpc>
                <a:spcPct val="150000"/>
              </a:lnSpc>
              <a:buFont typeface="Arial" panose="020B0604020202020204" pitchFamily="34" charset="0"/>
              <a:buChar char="•"/>
            </a:pPr>
            <a:r>
              <a:rPr lang="en-US" sz="2200" b="0" i="0" dirty="0">
                <a:effectLst/>
                <a:latin typeface="Times New Roman" panose="02020603050405020304" pitchFamily="18" charset="0"/>
                <a:cs typeface="Times New Roman" panose="02020603050405020304" pitchFamily="18" charset="0"/>
              </a:rPr>
              <a:t>It mainly tests interface between two software units or modules. It focuses on determining the correctness of the interface. Once all the modules have been unit-tested, integration testing is performed.</a:t>
            </a:r>
          </a:p>
          <a:p>
            <a:pPr marL="800100" lvl="1" indent="-342900" algn="just" fontAlgn="base">
              <a:lnSpc>
                <a:spcPct val="150000"/>
              </a:lnSpc>
              <a:buFont typeface="Arial" panose="020B0604020202020204" pitchFamily="34" charset="0"/>
              <a:buChar char="•"/>
            </a:pPr>
            <a:r>
              <a:rPr lang="en-US" sz="2200" b="0" i="0" dirty="0">
                <a:effectLst/>
                <a:latin typeface="Times New Roman" panose="02020603050405020304" pitchFamily="18" charset="0"/>
                <a:cs typeface="Times New Roman" panose="02020603050405020304" pitchFamily="18" charset="0"/>
              </a:rPr>
              <a:t>Integration testing can be done by picking module by module. This can be done so that there is a proper sequence to be followed.</a:t>
            </a:r>
          </a:p>
          <a:p>
            <a:pPr marL="800100" lvl="1" indent="-342900" algn="just" fontAlgn="base">
              <a:lnSpc>
                <a:spcPct val="150000"/>
              </a:lnSpc>
              <a:buFont typeface="Arial" panose="020B0604020202020204" pitchFamily="34" charset="0"/>
              <a:buChar char="•"/>
            </a:pPr>
            <a:r>
              <a:rPr lang="en-US" sz="2200" b="0" i="0" dirty="0">
                <a:effectLst/>
                <a:latin typeface="Times New Roman" panose="02020603050405020304" pitchFamily="18" charset="0"/>
                <a:cs typeface="Times New Roman" panose="02020603050405020304" pitchFamily="18" charset="0"/>
              </a:rPr>
              <a:t>Exposing the defects is the major focus of the integration testing and the time of interaction between the integrated units.</a:t>
            </a:r>
          </a:p>
        </p:txBody>
      </p:sp>
    </p:spTree>
    <p:extLst>
      <p:ext uri="{BB962C8B-B14F-4D97-AF65-F5344CB8AC3E}">
        <p14:creationId xmlns:p14="http://schemas.microsoft.com/office/powerpoint/2010/main" val="5087998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F5C5904-0344-8B65-6E89-BA956B9FB892}"/>
              </a:ext>
            </a:extLst>
          </p:cNvPr>
          <p:cNvSpPr txBox="1"/>
          <p:nvPr/>
        </p:nvSpPr>
        <p:spPr>
          <a:xfrm>
            <a:off x="318654" y="114679"/>
            <a:ext cx="11665528" cy="6679521"/>
          </a:xfrm>
          <a:prstGeom prst="rect">
            <a:avLst/>
          </a:prstGeom>
          <a:noFill/>
        </p:spPr>
        <p:txBody>
          <a:bodyPr wrap="square">
            <a:spAutoFit/>
          </a:bodyPr>
          <a:lstStyle/>
          <a:p>
            <a:pPr algn="just" fontAlgn="base">
              <a:lnSpc>
                <a:spcPct val="150000"/>
              </a:lnSpc>
            </a:pPr>
            <a:r>
              <a:rPr lang="en-US" sz="2400" b="1" i="0" dirty="0">
                <a:solidFill>
                  <a:srgbClr val="273239"/>
                </a:solidFill>
                <a:effectLst/>
                <a:latin typeface="Times New Roman" panose="02020603050405020304" pitchFamily="18" charset="0"/>
                <a:cs typeface="Times New Roman" panose="02020603050405020304" pitchFamily="18" charset="0"/>
              </a:rPr>
              <a:t>Applications of Integration Testing</a:t>
            </a:r>
          </a:p>
          <a:p>
            <a:pPr lvl="1" algn="just" fontAlgn="base">
              <a:lnSpc>
                <a:spcPct val="150000"/>
              </a:lnSpc>
            </a:pPr>
            <a:r>
              <a:rPr lang="en-US" sz="2200" b="0" i="0" dirty="0">
                <a:solidFill>
                  <a:srgbClr val="273239"/>
                </a:solidFill>
                <a:effectLst/>
                <a:latin typeface="Times New Roman" panose="02020603050405020304" pitchFamily="18" charset="0"/>
                <a:cs typeface="Times New Roman" panose="02020603050405020304" pitchFamily="18" charset="0"/>
              </a:rPr>
              <a:t>Integration testing is all about making sure that different parts of a software application work well together. While unit testing checks individual components, integration testing focuses on how those components interact with each other. Here are the few application of Integration Testing:</a:t>
            </a:r>
          </a:p>
          <a:p>
            <a:pPr marL="914400" lvl="1" indent="-457200" algn="just" fontAlgn="base">
              <a:lnSpc>
                <a:spcPct val="150000"/>
              </a:lnSpc>
              <a:buFont typeface="+mj-lt"/>
              <a:buAutoNum type="arabicPeriod"/>
            </a:pPr>
            <a:r>
              <a:rPr lang="en-US" sz="2200" b="1" i="0" dirty="0">
                <a:solidFill>
                  <a:srgbClr val="273239"/>
                </a:solidFill>
                <a:effectLst/>
                <a:latin typeface="Times New Roman" panose="02020603050405020304" pitchFamily="18" charset="0"/>
                <a:cs typeface="Times New Roman" panose="02020603050405020304" pitchFamily="18" charset="0"/>
              </a:rPr>
              <a:t>Identify the components: </a:t>
            </a:r>
            <a:r>
              <a:rPr lang="en-US" sz="2200" b="0" i="0" dirty="0">
                <a:solidFill>
                  <a:srgbClr val="273239"/>
                </a:solidFill>
                <a:effectLst/>
                <a:latin typeface="Times New Roman" panose="02020603050405020304" pitchFamily="18" charset="0"/>
                <a:cs typeface="Times New Roman" panose="02020603050405020304" pitchFamily="18" charset="0"/>
              </a:rPr>
              <a:t>Identify the individual components of your application that need to be integrated. This could include the frontend, backend, database, and any third-party services.</a:t>
            </a:r>
          </a:p>
          <a:p>
            <a:pPr marL="914400" lvl="1" indent="-457200" algn="just" fontAlgn="base">
              <a:lnSpc>
                <a:spcPct val="150000"/>
              </a:lnSpc>
              <a:buFont typeface="+mj-lt"/>
              <a:buAutoNum type="arabicPeriod"/>
            </a:pPr>
            <a:r>
              <a:rPr lang="en-US" sz="2200" b="1" i="0" dirty="0">
                <a:solidFill>
                  <a:srgbClr val="273239"/>
                </a:solidFill>
                <a:effectLst/>
                <a:latin typeface="Times New Roman" panose="02020603050405020304" pitchFamily="18" charset="0"/>
                <a:cs typeface="Times New Roman" panose="02020603050405020304" pitchFamily="18" charset="0"/>
              </a:rPr>
              <a:t>Create a test plan: </a:t>
            </a:r>
            <a:r>
              <a:rPr lang="en-US" sz="2200" b="0" i="0" dirty="0">
                <a:solidFill>
                  <a:srgbClr val="273239"/>
                </a:solidFill>
                <a:effectLst/>
                <a:latin typeface="Times New Roman" panose="02020603050405020304" pitchFamily="18" charset="0"/>
                <a:cs typeface="Times New Roman" panose="02020603050405020304" pitchFamily="18" charset="0"/>
              </a:rPr>
              <a:t>Develop a test plan that outlines the scenarios and test cases that need to be executed to validate the integration points between the different components. This could include testing data flow, communication protocols, and error handling.</a:t>
            </a:r>
          </a:p>
          <a:p>
            <a:pPr marL="914400" lvl="1" indent="-457200" algn="just" fontAlgn="base">
              <a:lnSpc>
                <a:spcPct val="150000"/>
              </a:lnSpc>
              <a:buFont typeface="+mj-lt"/>
              <a:buAutoNum type="arabicPeriod"/>
            </a:pPr>
            <a:r>
              <a:rPr lang="en-US" sz="2200" b="1" i="0" dirty="0">
                <a:solidFill>
                  <a:srgbClr val="273239"/>
                </a:solidFill>
                <a:effectLst/>
                <a:latin typeface="Times New Roman" panose="02020603050405020304" pitchFamily="18" charset="0"/>
                <a:cs typeface="Times New Roman" panose="02020603050405020304" pitchFamily="18" charset="0"/>
              </a:rPr>
              <a:t>Set up test environment: </a:t>
            </a:r>
            <a:r>
              <a:rPr lang="en-US" sz="2200" b="0" i="0" dirty="0">
                <a:solidFill>
                  <a:srgbClr val="273239"/>
                </a:solidFill>
                <a:effectLst/>
                <a:latin typeface="Times New Roman" panose="02020603050405020304" pitchFamily="18" charset="0"/>
                <a:cs typeface="Times New Roman" panose="02020603050405020304" pitchFamily="18" charset="0"/>
              </a:rPr>
              <a:t>Set up a test environment that mirrors the production environment as closely as possible. This will help ensure that the results of your integration tests are accurate and reliable.</a:t>
            </a:r>
          </a:p>
        </p:txBody>
      </p:sp>
    </p:spTree>
    <p:extLst>
      <p:ext uri="{BB962C8B-B14F-4D97-AF65-F5344CB8AC3E}">
        <p14:creationId xmlns:p14="http://schemas.microsoft.com/office/powerpoint/2010/main" val="39018248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919BB5B-51B7-CBFD-ABA3-ACFD6688E9D3}"/>
              </a:ext>
            </a:extLst>
          </p:cNvPr>
          <p:cNvSpPr txBox="1"/>
          <p:nvPr/>
        </p:nvSpPr>
        <p:spPr>
          <a:xfrm>
            <a:off x="706582" y="789893"/>
            <a:ext cx="10446328" cy="4602029"/>
          </a:xfrm>
          <a:prstGeom prst="rect">
            <a:avLst/>
          </a:prstGeom>
          <a:noFill/>
        </p:spPr>
        <p:txBody>
          <a:bodyPr wrap="square">
            <a:spAutoFit/>
          </a:bodyPr>
          <a:lstStyle/>
          <a:p>
            <a:pPr marL="457200" indent="-457200" algn="just" fontAlgn="base">
              <a:lnSpc>
                <a:spcPct val="150000"/>
              </a:lnSpc>
              <a:buFont typeface="+mj-lt"/>
              <a:buAutoNum type="arabicPeriod" startAt="4"/>
            </a:pPr>
            <a:r>
              <a:rPr lang="en-US" sz="2200" b="1" i="0" dirty="0">
                <a:solidFill>
                  <a:srgbClr val="273239"/>
                </a:solidFill>
                <a:effectLst/>
                <a:latin typeface="Times New Roman" panose="02020603050405020304" pitchFamily="18" charset="0"/>
                <a:cs typeface="Times New Roman" panose="02020603050405020304" pitchFamily="18" charset="0"/>
              </a:rPr>
              <a:t>Execute the tests: </a:t>
            </a:r>
            <a:r>
              <a:rPr lang="en-US" sz="2200" b="0" i="0" dirty="0">
                <a:solidFill>
                  <a:srgbClr val="273239"/>
                </a:solidFill>
                <a:effectLst/>
                <a:latin typeface="Times New Roman" panose="02020603050405020304" pitchFamily="18" charset="0"/>
                <a:cs typeface="Times New Roman" panose="02020603050405020304" pitchFamily="18" charset="0"/>
              </a:rPr>
              <a:t>Execute the tests outlined in your test plan, starting with the most critical and complex scenarios. Be sure to log any defects or issues that you encounter during testing.</a:t>
            </a:r>
          </a:p>
          <a:p>
            <a:pPr marL="457200" indent="-457200" algn="just" fontAlgn="base">
              <a:lnSpc>
                <a:spcPct val="150000"/>
              </a:lnSpc>
              <a:buFont typeface="+mj-lt"/>
              <a:buAutoNum type="arabicPeriod" startAt="4"/>
            </a:pPr>
            <a:r>
              <a:rPr lang="en-US" sz="2200" b="1" i="0" dirty="0">
                <a:solidFill>
                  <a:srgbClr val="273239"/>
                </a:solidFill>
                <a:effectLst/>
                <a:latin typeface="Times New Roman" panose="02020603050405020304" pitchFamily="18" charset="0"/>
                <a:cs typeface="Times New Roman" panose="02020603050405020304" pitchFamily="18" charset="0"/>
              </a:rPr>
              <a:t>Analyze the results: </a:t>
            </a:r>
            <a:r>
              <a:rPr lang="en-US" sz="2200" b="0" i="0" dirty="0">
                <a:solidFill>
                  <a:srgbClr val="273239"/>
                </a:solidFill>
                <a:effectLst/>
                <a:latin typeface="Times New Roman" panose="02020603050405020304" pitchFamily="18" charset="0"/>
                <a:cs typeface="Times New Roman" panose="02020603050405020304" pitchFamily="18" charset="0"/>
              </a:rPr>
              <a:t>Analyze the results of your integration tests to identify any defects or issues that need to be addressed. This may involve working with developers to fix bugs or make changes to the application architecture.</a:t>
            </a:r>
          </a:p>
          <a:p>
            <a:pPr marL="457200" indent="-457200" algn="just" fontAlgn="base">
              <a:lnSpc>
                <a:spcPct val="150000"/>
              </a:lnSpc>
              <a:buFont typeface="+mj-lt"/>
              <a:buAutoNum type="arabicPeriod" startAt="4"/>
            </a:pPr>
            <a:r>
              <a:rPr lang="en-US" sz="2200" b="1" i="0" dirty="0">
                <a:solidFill>
                  <a:srgbClr val="273239"/>
                </a:solidFill>
                <a:effectLst/>
                <a:latin typeface="Times New Roman" panose="02020603050405020304" pitchFamily="18" charset="0"/>
                <a:cs typeface="Times New Roman" panose="02020603050405020304" pitchFamily="18" charset="0"/>
              </a:rPr>
              <a:t>Repeat testing: </a:t>
            </a:r>
            <a:r>
              <a:rPr lang="en-US" sz="2200" b="0" i="0" dirty="0">
                <a:solidFill>
                  <a:srgbClr val="273239"/>
                </a:solidFill>
                <a:effectLst/>
                <a:latin typeface="Times New Roman" panose="02020603050405020304" pitchFamily="18" charset="0"/>
                <a:cs typeface="Times New Roman" panose="02020603050405020304" pitchFamily="18" charset="0"/>
              </a:rPr>
              <a:t>Once defects have been fixed, repeat the integration testing process to ensure that the changes have been successful and that the application still works as expected.</a:t>
            </a:r>
          </a:p>
        </p:txBody>
      </p:sp>
    </p:spTree>
    <p:extLst>
      <p:ext uri="{BB962C8B-B14F-4D97-AF65-F5344CB8AC3E}">
        <p14:creationId xmlns:p14="http://schemas.microsoft.com/office/powerpoint/2010/main" val="24386652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8534D1B-3DC4-6B90-8F3D-019A479FA36F}"/>
              </a:ext>
            </a:extLst>
          </p:cNvPr>
          <p:cNvSpPr txBox="1"/>
          <p:nvPr/>
        </p:nvSpPr>
        <p:spPr>
          <a:xfrm>
            <a:off x="540327" y="612384"/>
            <a:ext cx="11125200" cy="5669309"/>
          </a:xfrm>
          <a:prstGeom prst="rect">
            <a:avLst/>
          </a:prstGeom>
          <a:noFill/>
        </p:spPr>
        <p:txBody>
          <a:bodyPr wrap="square">
            <a:spAutoFit/>
          </a:bodyPr>
          <a:lstStyle/>
          <a:p>
            <a:pPr marL="457200" indent="-457200" algn="just">
              <a:lnSpc>
                <a:spcPct val="150000"/>
              </a:lnSpc>
              <a:buFont typeface="Wingdings" panose="05000000000000000000" pitchFamily="2" charset="2"/>
              <a:buChar char="ü"/>
            </a:pPr>
            <a:r>
              <a:rPr lang="en-US" sz="2400" b="1" i="0" dirty="0">
                <a:effectLst/>
                <a:latin typeface="Times New Roman" panose="02020603050405020304" pitchFamily="18" charset="0"/>
                <a:cs typeface="Times New Roman" panose="02020603050405020304" pitchFamily="18" charset="0"/>
              </a:rPr>
              <a:t>Validation Testing</a:t>
            </a:r>
          </a:p>
          <a:p>
            <a:pPr lvl="1" algn="just">
              <a:lnSpc>
                <a:spcPct val="150000"/>
              </a:lnSpc>
            </a:pPr>
            <a:r>
              <a:rPr lang="en-US" sz="2000" b="0" i="0" dirty="0">
                <a:effectLst/>
                <a:latin typeface="Times New Roman" panose="02020603050405020304" pitchFamily="18" charset="0"/>
                <a:cs typeface="Times New Roman" panose="02020603050405020304" pitchFamily="18" charset="0"/>
              </a:rPr>
              <a:t>The process of evaluating software during the development process or at the end of the development process to determine whether it satisfies specified business requirements.</a:t>
            </a:r>
          </a:p>
          <a:p>
            <a:pPr lvl="1" algn="just">
              <a:lnSpc>
                <a:spcPct val="150000"/>
              </a:lnSpc>
            </a:pPr>
            <a:r>
              <a:rPr lang="en-US" sz="2000" b="0" i="0" dirty="0">
                <a:effectLst/>
                <a:latin typeface="Times New Roman" panose="02020603050405020304" pitchFamily="18" charset="0"/>
                <a:cs typeface="Times New Roman" panose="02020603050405020304" pitchFamily="18" charset="0"/>
              </a:rPr>
              <a:t>Validation Testing ensures that the product actually meets the client's needs. It can also be defined as to demonstrate that the product fulfills its intended use when deployed on appropriate environment.</a:t>
            </a:r>
          </a:p>
          <a:p>
            <a:pPr lvl="1" algn="just">
              <a:lnSpc>
                <a:spcPct val="150000"/>
              </a:lnSpc>
            </a:pPr>
            <a:endParaRPr lang="en-US" sz="2000" b="0" i="0" dirty="0">
              <a:effectLst/>
              <a:latin typeface="Times New Roman" panose="02020603050405020304" pitchFamily="18" charset="0"/>
              <a:cs typeface="Times New Roman" panose="02020603050405020304" pitchFamily="18" charset="0"/>
            </a:endParaRPr>
          </a:p>
          <a:p>
            <a:pPr lvl="1">
              <a:lnSpc>
                <a:spcPct val="150000"/>
              </a:lnSpc>
            </a:pPr>
            <a:r>
              <a:rPr lang="en-US" sz="2000" b="1" dirty="0">
                <a:latin typeface="Times New Roman" panose="02020603050405020304" pitchFamily="18" charset="0"/>
                <a:cs typeface="Times New Roman" panose="02020603050405020304" pitchFamily="18" charset="0"/>
              </a:rPr>
              <a:t>Key Points</a:t>
            </a:r>
          </a:p>
          <a:p>
            <a:pPr lvl="1">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Performed after integration testing </a:t>
            </a:r>
          </a:p>
          <a:p>
            <a:pPr lvl="1">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Focuses on user requirements </a:t>
            </a:r>
          </a:p>
          <a:p>
            <a:pPr lvl="1">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Includes acceptance testing </a:t>
            </a:r>
          </a:p>
          <a:p>
            <a:pPr lvl="1">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Can involve real users (beta testing) </a:t>
            </a:r>
          </a:p>
          <a:p>
            <a:pPr lvl="1" algn="just">
              <a:lnSpc>
                <a:spcPct val="150000"/>
              </a:lnSpc>
            </a:pPr>
            <a:endParaRPr lang="en-US" sz="2000" b="0" i="0" dirty="0">
              <a:effectLst/>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1F437F58-0340-FEEA-3743-12290AA95CAC}"/>
              </a:ext>
            </a:extLst>
          </p:cNvPr>
          <p:cNvSpPr txBox="1"/>
          <p:nvPr/>
        </p:nvSpPr>
        <p:spPr>
          <a:xfrm>
            <a:off x="6096000" y="3447038"/>
            <a:ext cx="6096000" cy="1883657"/>
          </a:xfrm>
          <a:prstGeom prst="rect">
            <a:avLst/>
          </a:prstGeom>
          <a:noFill/>
        </p:spPr>
        <p:txBody>
          <a:bodyPr wrap="square">
            <a:spAutoFit/>
          </a:bodyPr>
          <a:lstStyle/>
          <a:p>
            <a:pPr>
              <a:lnSpc>
                <a:spcPct val="150000"/>
              </a:lnSpc>
            </a:pPr>
            <a:r>
              <a:rPr lang="en-US" sz="2000" b="1" dirty="0">
                <a:latin typeface="Times New Roman" panose="02020603050405020304" pitchFamily="18" charset="0"/>
                <a:cs typeface="Times New Roman" panose="02020603050405020304" pitchFamily="18" charset="0"/>
              </a:rPr>
              <a:t>Importance</a:t>
            </a:r>
          </a:p>
          <a:p>
            <a:pPr>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Ensures user satisfaction </a:t>
            </a:r>
          </a:p>
          <a:p>
            <a:pPr>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Confirms system functionality </a:t>
            </a:r>
          </a:p>
          <a:p>
            <a:pPr>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Reduces risk of product rejection</a:t>
            </a:r>
          </a:p>
        </p:txBody>
      </p:sp>
    </p:spTree>
    <p:extLst>
      <p:ext uri="{BB962C8B-B14F-4D97-AF65-F5344CB8AC3E}">
        <p14:creationId xmlns:p14="http://schemas.microsoft.com/office/powerpoint/2010/main" val="27805425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9BFC56C-7ABA-5404-E9A7-8BB9D33854E3}"/>
              </a:ext>
            </a:extLst>
          </p:cNvPr>
          <p:cNvSpPr txBox="1"/>
          <p:nvPr/>
        </p:nvSpPr>
        <p:spPr>
          <a:xfrm>
            <a:off x="353291" y="44396"/>
            <a:ext cx="11187545" cy="6592639"/>
          </a:xfrm>
          <a:prstGeom prst="rect">
            <a:avLst/>
          </a:prstGeom>
          <a:noFill/>
        </p:spPr>
        <p:txBody>
          <a:bodyPr wrap="square">
            <a:spAutoFit/>
          </a:bodyPr>
          <a:lstStyle/>
          <a:p>
            <a:pPr marL="342900" indent="-342900" algn="just">
              <a:lnSpc>
                <a:spcPct val="150000"/>
              </a:lnSpc>
              <a:buFont typeface="Wingdings" panose="05000000000000000000" pitchFamily="2" charset="2"/>
              <a:buChar char="ü"/>
            </a:pPr>
            <a:r>
              <a:rPr lang="en-US" sz="2400" b="1" dirty="0">
                <a:latin typeface="Times New Roman" panose="02020603050405020304" pitchFamily="18" charset="0"/>
                <a:cs typeface="Times New Roman" panose="02020603050405020304" pitchFamily="18" charset="0"/>
              </a:rPr>
              <a:t>System Testing</a:t>
            </a:r>
          </a:p>
          <a:p>
            <a:pPr lvl="1" algn="just">
              <a:lnSpc>
                <a:spcPct val="150000"/>
              </a:lnSpc>
            </a:pPr>
            <a:r>
              <a:rPr lang="en-US" sz="2000" dirty="0">
                <a:latin typeface="Times New Roman" panose="02020603050405020304" pitchFamily="18" charset="0"/>
                <a:cs typeface="Times New Roman" panose="02020603050405020304" pitchFamily="18" charset="0"/>
              </a:rPr>
              <a:t>System testing is the process of testing the </a:t>
            </a:r>
            <a:r>
              <a:rPr lang="en-US" sz="2000" b="1" dirty="0">
                <a:latin typeface="Times New Roman" panose="02020603050405020304" pitchFamily="18" charset="0"/>
                <a:cs typeface="Times New Roman" panose="02020603050405020304" pitchFamily="18" charset="0"/>
              </a:rPr>
              <a:t>complete and integrated system as a whole</a:t>
            </a:r>
            <a:r>
              <a:rPr lang="en-US" sz="2000" dirty="0">
                <a:latin typeface="Times New Roman" panose="02020603050405020304" pitchFamily="18" charset="0"/>
                <a:cs typeface="Times New Roman" panose="02020603050405020304" pitchFamily="18" charset="0"/>
              </a:rPr>
              <a:t> to ensure it meets specified requirements.</a:t>
            </a:r>
          </a:p>
          <a:p>
            <a:pPr lvl="1" algn="just">
              <a:lnSpc>
                <a:spcPct val="150000"/>
              </a:lnSpc>
            </a:pPr>
            <a:r>
              <a:rPr lang="en-US" sz="2000" b="1" dirty="0">
                <a:latin typeface="Times New Roman" panose="02020603050405020304" pitchFamily="18" charset="0"/>
                <a:cs typeface="Times New Roman" panose="02020603050405020304" pitchFamily="18" charset="0"/>
              </a:rPr>
              <a:t>Key Points</a:t>
            </a:r>
          </a:p>
          <a:p>
            <a:pPr marL="800100" lvl="1"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Performed after integration testing </a:t>
            </a:r>
          </a:p>
          <a:p>
            <a:pPr marL="800100" lvl="1"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Tests entire system functionality </a:t>
            </a:r>
          </a:p>
          <a:p>
            <a:pPr marL="800100" lvl="1"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Includes performance, security, and usability testing </a:t>
            </a:r>
          </a:p>
          <a:p>
            <a:pPr lvl="1" algn="just">
              <a:lnSpc>
                <a:spcPct val="150000"/>
              </a:lnSpc>
            </a:pPr>
            <a:r>
              <a:rPr lang="en-US" sz="2000" b="1" dirty="0">
                <a:latin typeface="Times New Roman" panose="02020603050405020304" pitchFamily="18" charset="0"/>
                <a:cs typeface="Times New Roman" panose="02020603050405020304" pitchFamily="18" charset="0"/>
              </a:rPr>
              <a:t>Example</a:t>
            </a:r>
          </a:p>
          <a:p>
            <a:pPr lvl="1" algn="just">
              <a:lnSpc>
                <a:spcPct val="150000"/>
              </a:lnSpc>
            </a:pPr>
            <a:r>
              <a:rPr lang="en-US" sz="2000" dirty="0">
                <a:latin typeface="Times New Roman" panose="02020603050405020304" pitchFamily="18" charset="0"/>
                <a:cs typeface="Times New Roman" panose="02020603050405020304" pitchFamily="18" charset="0"/>
              </a:rPr>
              <a:t>Testing a full application including login, database, and payment together.</a:t>
            </a:r>
          </a:p>
          <a:p>
            <a:pPr lvl="1" algn="just">
              <a:lnSpc>
                <a:spcPct val="150000"/>
              </a:lnSpc>
            </a:pPr>
            <a:endParaRPr lang="en-US" sz="2000" dirty="0">
              <a:latin typeface="Times New Roman" panose="02020603050405020304" pitchFamily="18" charset="0"/>
              <a:cs typeface="Times New Roman" panose="02020603050405020304" pitchFamily="18" charset="0"/>
            </a:endParaRPr>
          </a:p>
          <a:p>
            <a:pPr lvl="1" algn="just">
              <a:lnSpc>
                <a:spcPct val="150000"/>
              </a:lnSpc>
            </a:pPr>
            <a:r>
              <a:rPr lang="en-US" sz="2000" b="1" dirty="0">
                <a:latin typeface="Times New Roman" panose="02020603050405020304" pitchFamily="18" charset="0"/>
                <a:cs typeface="Times New Roman" panose="02020603050405020304" pitchFamily="18" charset="0"/>
              </a:rPr>
              <a:t>Importance</a:t>
            </a:r>
          </a:p>
          <a:p>
            <a:pPr marL="800100" lvl="1"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Validates complete system behavior </a:t>
            </a:r>
          </a:p>
          <a:p>
            <a:pPr marL="800100" lvl="1"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Detects system-level defects </a:t>
            </a:r>
          </a:p>
          <a:p>
            <a:pPr marL="800100" lvl="1"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Ensures readiness for deployment</a:t>
            </a:r>
          </a:p>
        </p:txBody>
      </p:sp>
    </p:spTree>
    <p:extLst>
      <p:ext uri="{BB962C8B-B14F-4D97-AF65-F5344CB8AC3E}">
        <p14:creationId xmlns:p14="http://schemas.microsoft.com/office/powerpoint/2010/main" val="1099971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EF44A3A-9CA2-C3AA-B58C-97A57DDE83F6}"/>
              </a:ext>
            </a:extLst>
          </p:cNvPr>
          <p:cNvSpPr txBox="1"/>
          <p:nvPr/>
        </p:nvSpPr>
        <p:spPr>
          <a:xfrm>
            <a:off x="207819" y="113851"/>
            <a:ext cx="11804072" cy="6130974"/>
          </a:xfrm>
          <a:prstGeom prst="rect">
            <a:avLst/>
          </a:prstGeom>
          <a:noFill/>
        </p:spPr>
        <p:txBody>
          <a:bodyPr wrap="square">
            <a:spAutoFit/>
          </a:bodyPr>
          <a:lstStyle/>
          <a:p>
            <a:pPr marL="342900" indent="-342900">
              <a:lnSpc>
                <a:spcPct val="150000"/>
              </a:lnSpc>
              <a:buFont typeface="Wingdings" panose="05000000000000000000" pitchFamily="2" charset="2"/>
              <a:buChar char="ü"/>
            </a:pPr>
            <a:r>
              <a:rPr lang="en-US" sz="2400" b="1" dirty="0">
                <a:latin typeface="Times New Roman" panose="02020603050405020304" pitchFamily="18" charset="0"/>
                <a:cs typeface="Times New Roman" panose="02020603050405020304" pitchFamily="18" charset="0"/>
              </a:rPr>
              <a:t>Objectives of Testing</a:t>
            </a:r>
          </a:p>
          <a:p>
            <a:pPr lvl="1" algn="just">
              <a:lnSpc>
                <a:spcPct val="150000"/>
              </a:lnSpc>
            </a:pPr>
            <a:r>
              <a:rPr lang="en-US" sz="2000" dirty="0">
                <a:latin typeface="Times New Roman" panose="02020603050405020304" pitchFamily="18" charset="0"/>
                <a:cs typeface="Times New Roman" panose="02020603050405020304" pitchFamily="18" charset="0"/>
              </a:rPr>
              <a:t>Software testing is mainly done to </a:t>
            </a:r>
            <a:r>
              <a:rPr lang="en-US" sz="2000" b="1" dirty="0">
                <a:latin typeface="Times New Roman" panose="02020603050405020304" pitchFamily="18" charset="0"/>
                <a:cs typeface="Times New Roman" panose="02020603050405020304" pitchFamily="18" charset="0"/>
              </a:rPr>
              <a:t>find errors and ensure the quality of the software</a:t>
            </a:r>
            <a:r>
              <a:rPr lang="en-US" sz="2000" dirty="0">
                <a:latin typeface="Times New Roman" panose="02020603050405020304" pitchFamily="18" charset="0"/>
                <a:cs typeface="Times New Roman" panose="02020603050405020304" pitchFamily="18" charset="0"/>
              </a:rPr>
              <a:t>. It helps verify whether the system meets the given requirements and works properly in different situations. Testing improves reliability, performance, and user satisfaction. It also reduces risks by identifying problems early, making the software more stable and efficient before it is delivered.</a:t>
            </a:r>
          </a:p>
          <a:p>
            <a:pPr lvl="1" algn="just">
              <a:lnSpc>
                <a:spcPct val="150000"/>
              </a:lnSpc>
            </a:pPr>
            <a:endParaRPr lang="en-US" sz="2000" dirty="0">
              <a:latin typeface="Times New Roman" panose="02020603050405020304" pitchFamily="18" charset="0"/>
              <a:cs typeface="Times New Roman" panose="02020603050405020304" pitchFamily="18" charset="0"/>
            </a:endParaRPr>
          </a:p>
          <a:p>
            <a:pPr lvl="1" algn="just">
              <a:lnSpc>
                <a:spcPct val="150000"/>
              </a:lnSpc>
            </a:pPr>
            <a:r>
              <a:rPr lang="en-US" sz="2000" b="1" dirty="0">
                <a:latin typeface="Times New Roman" panose="02020603050405020304" pitchFamily="18" charset="0"/>
                <a:cs typeface="Times New Roman" panose="02020603050405020304" pitchFamily="18" charset="0"/>
              </a:rPr>
              <a:t>Key Objectives</a:t>
            </a:r>
          </a:p>
          <a:p>
            <a:pPr marL="1257300" lvl="2"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Detect </a:t>
            </a:r>
            <a:r>
              <a:rPr lang="en-US" sz="2000" b="1" dirty="0">
                <a:latin typeface="Times New Roman" panose="02020603050405020304" pitchFamily="18" charset="0"/>
                <a:cs typeface="Times New Roman" panose="02020603050405020304" pitchFamily="18" charset="0"/>
              </a:rPr>
              <a:t>errors and defects</a:t>
            </a:r>
            <a:r>
              <a:rPr lang="en-US" sz="2000" dirty="0">
                <a:latin typeface="Times New Roman" panose="02020603050405020304" pitchFamily="18" charset="0"/>
                <a:cs typeface="Times New Roman" panose="02020603050405020304" pitchFamily="18" charset="0"/>
              </a:rPr>
              <a:t> in the system </a:t>
            </a:r>
          </a:p>
          <a:p>
            <a:pPr marL="1257300" lvl="2"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Ensure software meets </a:t>
            </a:r>
            <a:r>
              <a:rPr lang="en-US" sz="2000" b="1" dirty="0">
                <a:latin typeface="Times New Roman" panose="02020603050405020304" pitchFamily="18" charset="0"/>
                <a:cs typeface="Times New Roman" panose="02020603050405020304" pitchFamily="18" charset="0"/>
              </a:rPr>
              <a:t>requirements</a:t>
            </a:r>
            <a:r>
              <a:rPr lang="en-US" sz="2000" dirty="0">
                <a:latin typeface="Times New Roman" panose="02020603050405020304" pitchFamily="18" charset="0"/>
                <a:cs typeface="Times New Roman" panose="02020603050405020304" pitchFamily="18" charset="0"/>
              </a:rPr>
              <a:t> </a:t>
            </a:r>
          </a:p>
          <a:p>
            <a:pPr marL="1257300" lvl="2"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Improve </a:t>
            </a:r>
            <a:r>
              <a:rPr lang="en-US" sz="2000" b="1" dirty="0">
                <a:latin typeface="Times New Roman" panose="02020603050405020304" pitchFamily="18" charset="0"/>
                <a:cs typeface="Times New Roman" panose="02020603050405020304" pitchFamily="18" charset="0"/>
              </a:rPr>
              <a:t>quality and reliability</a:t>
            </a:r>
            <a:r>
              <a:rPr lang="en-US" sz="2000" dirty="0">
                <a:latin typeface="Times New Roman" panose="02020603050405020304" pitchFamily="18" charset="0"/>
                <a:cs typeface="Times New Roman" panose="02020603050405020304" pitchFamily="18" charset="0"/>
              </a:rPr>
              <a:t> </a:t>
            </a:r>
          </a:p>
          <a:p>
            <a:pPr marL="1257300" lvl="2"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Check system performance under different conditions </a:t>
            </a:r>
          </a:p>
          <a:p>
            <a:pPr marL="1257300" lvl="2"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Ensure </a:t>
            </a:r>
            <a:r>
              <a:rPr lang="en-US" sz="2000" b="1" dirty="0">
                <a:latin typeface="Times New Roman" panose="02020603050405020304" pitchFamily="18" charset="0"/>
                <a:cs typeface="Times New Roman" panose="02020603050405020304" pitchFamily="18" charset="0"/>
              </a:rPr>
              <a:t>user satisfaction</a:t>
            </a:r>
            <a:r>
              <a:rPr lang="en-US" sz="2000" dirty="0">
                <a:latin typeface="Times New Roman" panose="02020603050405020304" pitchFamily="18" charset="0"/>
                <a:cs typeface="Times New Roman" panose="02020603050405020304" pitchFamily="18" charset="0"/>
              </a:rPr>
              <a:t> </a:t>
            </a:r>
          </a:p>
          <a:p>
            <a:pPr marL="1257300" lvl="2"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Reduce risks before deployment</a:t>
            </a:r>
          </a:p>
        </p:txBody>
      </p:sp>
    </p:spTree>
    <p:extLst>
      <p:ext uri="{BB962C8B-B14F-4D97-AF65-F5344CB8AC3E}">
        <p14:creationId xmlns:p14="http://schemas.microsoft.com/office/powerpoint/2010/main" val="10634613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DE0894A-876F-02A4-5F02-905BD953617E}"/>
              </a:ext>
            </a:extLst>
          </p:cNvPr>
          <p:cNvSpPr txBox="1"/>
          <p:nvPr/>
        </p:nvSpPr>
        <p:spPr>
          <a:xfrm>
            <a:off x="332509" y="455938"/>
            <a:ext cx="11526981" cy="5207644"/>
          </a:xfrm>
          <a:prstGeom prst="rect">
            <a:avLst/>
          </a:prstGeom>
          <a:noFill/>
        </p:spPr>
        <p:txBody>
          <a:bodyPr wrap="square">
            <a:spAutoFit/>
          </a:bodyPr>
          <a:lstStyle/>
          <a:p>
            <a:pPr marL="342900" indent="-342900" algn="just">
              <a:lnSpc>
                <a:spcPct val="150000"/>
              </a:lnSpc>
              <a:buFont typeface="Wingdings" panose="05000000000000000000" pitchFamily="2" charset="2"/>
              <a:buChar char="ü"/>
            </a:pPr>
            <a:r>
              <a:rPr lang="en-US" sz="2400" b="1" dirty="0">
                <a:latin typeface="Times New Roman" panose="02020603050405020304" pitchFamily="18" charset="0"/>
                <a:cs typeface="Times New Roman" panose="02020603050405020304" pitchFamily="18" charset="0"/>
              </a:rPr>
              <a:t>Role of Testing in Maintenance</a:t>
            </a:r>
          </a:p>
          <a:p>
            <a:pPr lvl="1" algn="just">
              <a:lnSpc>
                <a:spcPct val="150000"/>
              </a:lnSpc>
            </a:pPr>
            <a:r>
              <a:rPr lang="en-US" sz="2000" dirty="0">
                <a:latin typeface="Times New Roman" panose="02020603050405020304" pitchFamily="18" charset="0"/>
                <a:cs typeface="Times New Roman" panose="02020603050405020304" pitchFamily="18" charset="0"/>
              </a:rPr>
              <a:t>Testing is very important even after the software is developed and deployed. During maintenance, changes such as bug fixes, updates, or new features are added. Testing ensures that these changes do not create new problems in the system. It helps maintain the stability and performance of the software over time.</a:t>
            </a:r>
          </a:p>
          <a:p>
            <a:pPr lvl="1" algn="just">
              <a:lnSpc>
                <a:spcPct val="150000"/>
              </a:lnSpc>
            </a:pPr>
            <a:endParaRPr lang="en-US" sz="2000" dirty="0">
              <a:latin typeface="Times New Roman" panose="02020603050405020304" pitchFamily="18" charset="0"/>
              <a:cs typeface="Times New Roman" panose="02020603050405020304" pitchFamily="18" charset="0"/>
            </a:endParaRPr>
          </a:p>
          <a:p>
            <a:pPr lvl="1" algn="just">
              <a:lnSpc>
                <a:spcPct val="150000"/>
              </a:lnSpc>
            </a:pPr>
            <a:r>
              <a:rPr lang="en-US" sz="2000" b="1" dirty="0">
                <a:latin typeface="Times New Roman" panose="02020603050405020304" pitchFamily="18" charset="0"/>
                <a:cs typeface="Times New Roman" panose="02020603050405020304" pitchFamily="18" charset="0"/>
              </a:rPr>
              <a:t>Key Roles</a:t>
            </a:r>
          </a:p>
          <a:p>
            <a:pPr marL="1257300" lvl="2"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Perform </a:t>
            </a:r>
            <a:r>
              <a:rPr lang="en-US" sz="2000" b="1" dirty="0">
                <a:latin typeface="Times New Roman" panose="02020603050405020304" pitchFamily="18" charset="0"/>
                <a:cs typeface="Times New Roman" panose="02020603050405020304" pitchFamily="18" charset="0"/>
              </a:rPr>
              <a:t>regression testing</a:t>
            </a:r>
            <a:r>
              <a:rPr lang="en-US" sz="2000" dirty="0">
                <a:latin typeface="Times New Roman" panose="02020603050405020304" pitchFamily="18" charset="0"/>
                <a:cs typeface="Times New Roman" panose="02020603050405020304" pitchFamily="18" charset="0"/>
              </a:rPr>
              <a:t> to ensure old features still work </a:t>
            </a:r>
          </a:p>
          <a:p>
            <a:pPr marL="1257300" lvl="2"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Verify </a:t>
            </a:r>
            <a:r>
              <a:rPr lang="en-US" sz="2000" b="1" dirty="0">
                <a:latin typeface="Times New Roman" panose="02020603050405020304" pitchFamily="18" charset="0"/>
                <a:cs typeface="Times New Roman" panose="02020603050405020304" pitchFamily="18" charset="0"/>
              </a:rPr>
              <a:t>bug fixes</a:t>
            </a:r>
            <a:r>
              <a:rPr lang="en-US" sz="2000" dirty="0">
                <a:latin typeface="Times New Roman" panose="02020603050405020304" pitchFamily="18" charset="0"/>
                <a:cs typeface="Times New Roman" panose="02020603050405020304" pitchFamily="18" charset="0"/>
              </a:rPr>
              <a:t> are correct </a:t>
            </a:r>
          </a:p>
          <a:p>
            <a:pPr marL="1257300" lvl="2"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Test </a:t>
            </a:r>
            <a:r>
              <a:rPr lang="en-US" sz="2000" b="1" dirty="0">
                <a:latin typeface="Times New Roman" panose="02020603050405020304" pitchFamily="18" charset="0"/>
                <a:cs typeface="Times New Roman" panose="02020603050405020304" pitchFamily="18" charset="0"/>
              </a:rPr>
              <a:t>new features and updates</a:t>
            </a:r>
            <a:r>
              <a:rPr lang="en-US" sz="2000" dirty="0">
                <a:latin typeface="Times New Roman" panose="02020603050405020304" pitchFamily="18" charset="0"/>
                <a:cs typeface="Times New Roman" panose="02020603050405020304" pitchFamily="18" charset="0"/>
              </a:rPr>
              <a:t> </a:t>
            </a:r>
          </a:p>
          <a:p>
            <a:pPr marL="1257300" lvl="2"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Ensure system </a:t>
            </a:r>
            <a:r>
              <a:rPr lang="en-US" sz="2000" b="1" dirty="0">
                <a:latin typeface="Times New Roman" panose="02020603050405020304" pitchFamily="18" charset="0"/>
                <a:cs typeface="Times New Roman" panose="02020603050405020304" pitchFamily="18" charset="0"/>
              </a:rPr>
              <a:t>performance is not affected</a:t>
            </a:r>
            <a:r>
              <a:rPr lang="en-US" sz="2000" dirty="0">
                <a:latin typeface="Times New Roman" panose="02020603050405020304" pitchFamily="18" charset="0"/>
                <a:cs typeface="Times New Roman" panose="02020603050405020304" pitchFamily="18" charset="0"/>
              </a:rPr>
              <a:t> </a:t>
            </a:r>
          </a:p>
          <a:p>
            <a:pPr marL="1257300" lvl="2"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Maintain overall </a:t>
            </a:r>
            <a:r>
              <a:rPr lang="en-US" sz="2000" b="1" dirty="0">
                <a:latin typeface="Times New Roman" panose="02020603050405020304" pitchFamily="18" charset="0"/>
                <a:cs typeface="Times New Roman" panose="02020603050405020304" pitchFamily="18" charset="0"/>
              </a:rPr>
              <a:t>software quality and stability</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57461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77C8128-89D3-46B2-0DAD-A062F351223E}"/>
              </a:ext>
            </a:extLst>
          </p:cNvPr>
          <p:cNvSpPr txBox="1"/>
          <p:nvPr/>
        </p:nvSpPr>
        <p:spPr>
          <a:xfrm>
            <a:off x="-12" y="20708"/>
            <a:ext cx="11918743" cy="6592639"/>
          </a:xfrm>
          <a:prstGeom prst="rect">
            <a:avLst/>
          </a:prstGeom>
          <a:noFill/>
        </p:spPr>
        <p:txBody>
          <a:bodyPr wrap="square">
            <a:spAutoFit/>
          </a:bodyPr>
          <a:lstStyle/>
          <a:p>
            <a:pPr marL="342900" indent="-342900" algn="just" rtl="0" fontAlgn="base">
              <a:lnSpc>
                <a:spcPct val="150000"/>
              </a:lnSpc>
              <a:buFont typeface="Wingdings" panose="05000000000000000000" pitchFamily="2" charset="2"/>
              <a:buChar char="ü"/>
            </a:pPr>
            <a:r>
              <a:rPr lang="en-US" sz="2400" b="1" i="0" dirty="0">
                <a:solidFill>
                  <a:srgbClr val="273239"/>
                </a:solidFill>
                <a:effectLst/>
                <a:latin typeface="Times New Roman" panose="02020603050405020304" pitchFamily="18" charset="0"/>
                <a:cs typeface="Times New Roman" panose="02020603050405020304" pitchFamily="18" charset="0"/>
              </a:rPr>
              <a:t>White box testing</a:t>
            </a:r>
          </a:p>
          <a:p>
            <a:pPr algn="just" rtl="0" fontAlgn="base">
              <a:lnSpc>
                <a:spcPct val="150000"/>
              </a:lnSpc>
            </a:pPr>
            <a:r>
              <a:rPr lang="en-US" sz="2000" b="0" i="0" dirty="0">
                <a:solidFill>
                  <a:srgbClr val="273239"/>
                </a:solidFill>
                <a:effectLst/>
                <a:latin typeface="Times New Roman" panose="02020603050405020304" pitchFamily="18" charset="0"/>
                <a:cs typeface="Times New Roman" panose="02020603050405020304" pitchFamily="18" charset="0"/>
              </a:rPr>
              <a:t>	</a:t>
            </a:r>
            <a:r>
              <a:rPr lang="en-US" sz="2000" b="0" i="0" dirty="0">
                <a:effectLst/>
                <a:latin typeface="Times New Roman" panose="02020603050405020304" pitchFamily="18" charset="0"/>
                <a:cs typeface="Times New Roman" panose="02020603050405020304" pitchFamily="18" charset="0"/>
              </a:rPr>
              <a:t>White box testing is a Software Testing Technique that involves testing the internal structure and workings 	of a Software Application.</a:t>
            </a:r>
          </a:p>
          <a:p>
            <a:pPr marL="1257300" lvl="2" indent="-342900" algn="just" fontAlgn="base">
              <a:lnSpc>
                <a:spcPct val="150000"/>
              </a:lnSpc>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The tester has access to the source code and uses this knowledge to design test cases that can verify the correctness of the software at the code level.</a:t>
            </a:r>
          </a:p>
          <a:p>
            <a:pPr marL="1257300" lvl="2" indent="-342900" algn="just" fontAlgn="base">
              <a:lnSpc>
                <a:spcPct val="150000"/>
              </a:lnSpc>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White box testing is also known as Structural Testing or Code-based Testing, and it is used to test the software’s internal logic, flow, and structure.</a:t>
            </a:r>
          </a:p>
          <a:p>
            <a:pPr marL="1257300" lvl="2" indent="-342900" algn="just" fontAlgn="base">
              <a:lnSpc>
                <a:spcPct val="150000"/>
              </a:lnSpc>
              <a:buFont typeface="Arial" panose="020B0604020202020204" pitchFamily="34" charset="0"/>
              <a:buChar char="•"/>
            </a:pPr>
            <a:r>
              <a:rPr lang="en-US" sz="2000" b="0" i="0" dirty="0">
                <a:solidFill>
                  <a:srgbClr val="273239"/>
                </a:solidFill>
                <a:effectLst/>
                <a:latin typeface="Times New Roman" panose="02020603050405020304" pitchFamily="18" charset="0"/>
                <a:cs typeface="Times New Roman" panose="02020603050405020304" pitchFamily="18" charset="0"/>
              </a:rPr>
              <a:t>The tester creates test cases to examine the code paths and logic flows to ensure they meet the specified requirements.</a:t>
            </a:r>
            <a:endParaRPr lang="en-US" sz="2000" dirty="0">
              <a:solidFill>
                <a:srgbClr val="273239"/>
              </a:solidFill>
              <a:latin typeface="Times New Roman" panose="02020603050405020304" pitchFamily="18" charset="0"/>
              <a:cs typeface="Times New Roman" panose="02020603050405020304" pitchFamily="18" charset="0"/>
            </a:endParaRPr>
          </a:p>
          <a:p>
            <a:pPr lvl="1" algn="just">
              <a:lnSpc>
                <a:spcPct val="150000"/>
              </a:lnSpc>
            </a:pPr>
            <a:r>
              <a:rPr lang="en-US" sz="2000" b="1" dirty="0">
                <a:latin typeface="Times New Roman" panose="02020603050405020304" pitchFamily="18" charset="0"/>
                <a:cs typeface="Times New Roman" panose="02020603050405020304" pitchFamily="18" charset="0"/>
              </a:rPr>
              <a:t>Key Points</a:t>
            </a:r>
          </a:p>
          <a:p>
            <a:pPr marL="800100" lvl="1"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Focuses on internal working of the program </a:t>
            </a:r>
          </a:p>
          <a:p>
            <a:pPr marL="800100" lvl="1"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Requires knowledge of source code </a:t>
            </a:r>
          </a:p>
          <a:p>
            <a:pPr marL="800100" lvl="1"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Ensures all paths, loops, and conditions are tested </a:t>
            </a:r>
          </a:p>
          <a:p>
            <a:pPr marL="800100" lvl="1"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Helps in detecting logical errors </a:t>
            </a:r>
          </a:p>
        </p:txBody>
      </p:sp>
      <p:sp>
        <p:nvSpPr>
          <p:cNvPr id="7" name="TextBox 6">
            <a:extLst>
              <a:ext uri="{FF2B5EF4-FFF2-40B4-BE49-F238E27FC236}">
                <a16:creationId xmlns:a16="http://schemas.microsoft.com/office/drawing/2014/main" id="{8A9FBAD3-7464-0A86-4F7F-162B5976C9C9}"/>
              </a:ext>
            </a:extLst>
          </p:cNvPr>
          <p:cNvSpPr txBox="1"/>
          <p:nvPr/>
        </p:nvSpPr>
        <p:spPr>
          <a:xfrm>
            <a:off x="7658100" y="4363951"/>
            <a:ext cx="3716482" cy="1883657"/>
          </a:xfrm>
          <a:prstGeom prst="rect">
            <a:avLst/>
          </a:prstGeom>
          <a:noFill/>
        </p:spPr>
        <p:txBody>
          <a:bodyPr wrap="square">
            <a:spAutoFit/>
          </a:bodyPr>
          <a:lstStyle/>
          <a:p>
            <a:pPr algn="just">
              <a:lnSpc>
                <a:spcPct val="150000"/>
              </a:lnSpc>
            </a:pPr>
            <a:r>
              <a:rPr lang="en-US" sz="2000" b="1" dirty="0">
                <a:latin typeface="Times New Roman" panose="02020603050405020304" pitchFamily="18" charset="0"/>
                <a:cs typeface="Times New Roman" panose="02020603050405020304" pitchFamily="18" charset="0"/>
              </a:rPr>
              <a:t>Advantages</a:t>
            </a:r>
          </a:p>
          <a:p>
            <a:pPr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Thorough testing of code </a:t>
            </a:r>
          </a:p>
          <a:p>
            <a:pPr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Early detection of errors </a:t>
            </a:r>
          </a:p>
          <a:p>
            <a:pPr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Improves code quality </a:t>
            </a:r>
          </a:p>
        </p:txBody>
      </p:sp>
    </p:spTree>
    <p:extLst>
      <p:ext uri="{BB962C8B-B14F-4D97-AF65-F5344CB8AC3E}">
        <p14:creationId xmlns:p14="http://schemas.microsoft.com/office/powerpoint/2010/main" val="13515593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7E84518-2901-58DD-8C44-6C4F98DF37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1835" y="0"/>
            <a:ext cx="9588329" cy="6858000"/>
          </a:xfrm>
          <a:prstGeom prst="rect">
            <a:avLst/>
          </a:prstGeom>
        </p:spPr>
      </p:pic>
    </p:spTree>
    <p:extLst>
      <p:ext uri="{BB962C8B-B14F-4D97-AF65-F5344CB8AC3E}">
        <p14:creationId xmlns:p14="http://schemas.microsoft.com/office/powerpoint/2010/main" val="1577904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C3B26D8-DA76-0138-EF61-DFF6E40D07BF}"/>
              </a:ext>
            </a:extLst>
          </p:cNvPr>
          <p:cNvSpPr txBox="1"/>
          <p:nvPr/>
        </p:nvSpPr>
        <p:spPr>
          <a:xfrm>
            <a:off x="581891" y="238542"/>
            <a:ext cx="11291454" cy="5669309"/>
          </a:xfrm>
          <a:prstGeom prst="rect">
            <a:avLst/>
          </a:prstGeom>
          <a:noFill/>
        </p:spPr>
        <p:txBody>
          <a:bodyPr wrap="square">
            <a:spAutoFit/>
          </a:bodyPr>
          <a:lstStyle/>
          <a:p>
            <a:pPr marL="342900" indent="-342900" algn="just">
              <a:lnSpc>
                <a:spcPct val="150000"/>
              </a:lnSpc>
              <a:buFont typeface="Wingdings" panose="05000000000000000000" pitchFamily="2" charset="2"/>
              <a:buChar char="ü"/>
            </a:pPr>
            <a:r>
              <a:rPr lang="en-US" sz="2400" b="1" dirty="0">
                <a:latin typeface="Times New Roman" panose="02020603050405020304" pitchFamily="18" charset="0"/>
                <a:cs typeface="Times New Roman" panose="02020603050405020304" pitchFamily="18" charset="0"/>
              </a:rPr>
              <a:t>Basic Path Testing</a:t>
            </a:r>
          </a:p>
          <a:p>
            <a:pPr lvl="1" algn="just">
              <a:lnSpc>
                <a:spcPct val="150000"/>
              </a:lnSpc>
            </a:pPr>
            <a:r>
              <a:rPr lang="en-US" sz="2000" dirty="0">
                <a:latin typeface="Times New Roman" panose="02020603050405020304" pitchFamily="18" charset="0"/>
                <a:cs typeface="Times New Roman" panose="02020603050405020304" pitchFamily="18" charset="0"/>
              </a:rPr>
              <a:t>Basic path testing is a white-box testing technique that ensures </a:t>
            </a:r>
            <a:r>
              <a:rPr lang="en-US" sz="2000" b="1" dirty="0">
                <a:latin typeface="Times New Roman" panose="02020603050405020304" pitchFamily="18" charset="0"/>
                <a:cs typeface="Times New Roman" panose="02020603050405020304" pitchFamily="18" charset="0"/>
              </a:rPr>
              <a:t>all independent paths in a program are executed at least once</a:t>
            </a:r>
            <a:r>
              <a:rPr lang="en-US" sz="2000" dirty="0">
                <a:latin typeface="Times New Roman" panose="02020603050405020304" pitchFamily="18" charset="0"/>
                <a:cs typeface="Times New Roman" panose="02020603050405020304" pitchFamily="18" charset="0"/>
              </a:rPr>
              <a:t>. It is based on the program’s control flow and helps identify logical errors.</a:t>
            </a:r>
          </a:p>
          <a:p>
            <a:pPr lvl="1" algn="just">
              <a:lnSpc>
                <a:spcPct val="150000"/>
              </a:lnSpc>
            </a:pPr>
            <a:r>
              <a:rPr lang="en-US" sz="2000" dirty="0">
                <a:latin typeface="Times New Roman" panose="02020603050405020304" pitchFamily="18" charset="0"/>
                <a:cs typeface="Times New Roman" panose="02020603050405020304" pitchFamily="18" charset="0"/>
              </a:rPr>
              <a:t>It uses a concept called </a:t>
            </a:r>
            <a:r>
              <a:rPr lang="en-US" sz="2000" b="1" dirty="0">
                <a:latin typeface="Times New Roman" panose="02020603050405020304" pitchFamily="18" charset="0"/>
                <a:cs typeface="Times New Roman" panose="02020603050405020304" pitchFamily="18" charset="0"/>
              </a:rPr>
              <a:t>Cyclomatic Complexity</a:t>
            </a:r>
            <a:r>
              <a:rPr lang="en-US" sz="2000" dirty="0">
                <a:latin typeface="Times New Roman" panose="02020603050405020304" pitchFamily="18" charset="0"/>
                <a:cs typeface="Times New Roman" panose="02020603050405020304" pitchFamily="18" charset="0"/>
              </a:rPr>
              <a:t> to determine the number of independent paths.</a:t>
            </a:r>
          </a:p>
          <a:p>
            <a:pPr lvl="1" algn="just">
              <a:lnSpc>
                <a:spcPct val="150000"/>
              </a:lnSpc>
            </a:pPr>
            <a:r>
              <a:rPr lang="en-US" sz="2000" b="1" dirty="0">
                <a:latin typeface="Times New Roman" panose="02020603050405020304" pitchFamily="18" charset="0"/>
                <a:cs typeface="Times New Roman" panose="02020603050405020304" pitchFamily="18" charset="0"/>
              </a:rPr>
              <a:t>Key Points</a:t>
            </a:r>
          </a:p>
          <a:p>
            <a:pPr marL="1257300" lvl="2"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Focuses on </a:t>
            </a:r>
            <a:r>
              <a:rPr lang="en-US" sz="2000" b="1" dirty="0">
                <a:latin typeface="Times New Roman" panose="02020603050405020304" pitchFamily="18" charset="0"/>
                <a:cs typeface="Times New Roman" panose="02020603050405020304" pitchFamily="18" charset="0"/>
              </a:rPr>
              <a:t>independent execution paths</a:t>
            </a:r>
            <a:r>
              <a:rPr lang="en-US" sz="2000" dirty="0">
                <a:latin typeface="Times New Roman" panose="02020603050405020304" pitchFamily="18" charset="0"/>
                <a:cs typeface="Times New Roman" panose="02020603050405020304" pitchFamily="18" charset="0"/>
              </a:rPr>
              <a:t> </a:t>
            </a:r>
          </a:p>
          <a:p>
            <a:pPr marL="1257300" lvl="2"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Uses </a:t>
            </a:r>
            <a:r>
              <a:rPr lang="en-US" sz="2000" b="1" dirty="0">
                <a:latin typeface="Times New Roman" panose="02020603050405020304" pitchFamily="18" charset="0"/>
                <a:cs typeface="Times New Roman" panose="02020603050405020304" pitchFamily="18" charset="0"/>
              </a:rPr>
              <a:t>control flow graph (CFG)</a:t>
            </a:r>
            <a:r>
              <a:rPr lang="en-US" sz="2000" dirty="0">
                <a:latin typeface="Times New Roman" panose="02020603050405020304" pitchFamily="18" charset="0"/>
                <a:cs typeface="Times New Roman" panose="02020603050405020304" pitchFamily="18" charset="0"/>
              </a:rPr>
              <a:t> </a:t>
            </a:r>
          </a:p>
          <a:p>
            <a:pPr marL="1257300" lvl="2"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Helps in designing effective test cases </a:t>
            </a:r>
          </a:p>
          <a:p>
            <a:pPr marL="1257300" lvl="2"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Ensures complete path coverage </a:t>
            </a:r>
          </a:p>
          <a:p>
            <a:pPr lvl="1" algn="just">
              <a:lnSpc>
                <a:spcPct val="150000"/>
              </a:lnSpc>
            </a:pPr>
            <a:r>
              <a:rPr lang="en-US" sz="2000" b="1" dirty="0">
                <a:latin typeface="Times New Roman" panose="02020603050405020304" pitchFamily="18" charset="0"/>
                <a:cs typeface="Times New Roman" panose="02020603050405020304" pitchFamily="18" charset="0"/>
              </a:rPr>
              <a:t>Importance</a:t>
            </a:r>
          </a:p>
          <a:p>
            <a:pPr marL="1257300" lvl="2"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Detects logical and structural errors </a:t>
            </a:r>
          </a:p>
          <a:p>
            <a:pPr marL="1257300" lvl="2"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Ensures better code coverage </a:t>
            </a:r>
          </a:p>
        </p:txBody>
      </p:sp>
    </p:spTree>
    <p:extLst>
      <p:ext uri="{BB962C8B-B14F-4D97-AF65-F5344CB8AC3E}">
        <p14:creationId xmlns:p14="http://schemas.microsoft.com/office/powerpoint/2010/main" val="1308057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77FBD91-3415-2733-2D2C-F17ECEDC35D1}"/>
              </a:ext>
            </a:extLst>
          </p:cNvPr>
          <p:cNvSpPr txBox="1"/>
          <p:nvPr/>
        </p:nvSpPr>
        <p:spPr>
          <a:xfrm>
            <a:off x="706582" y="792494"/>
            <a:ext cx="10723418" cy="4284314"/>
          </a:xfrm>
          <a:prstGeom prst="rect">
            <a:avLst/>
          </a:prstGeom>
          <a:noFill/>
        </p:spPr>
        <p:txBody>
          <a:bodyPr wrap="square">
            <a:spAutoFit/>
          </a:bodyPr>
          <a:lstStyle/>
          <a:p>
            <a:pPr marL="342900" indent="-342900" algn="just" fontAlgn="base">
              <a:lnSpc>
                <a:spcPct val="150000"/>
              </a:lnSpc>
              <a:buFont typeface="Wingdings" panose="05000000000000000000" pitchFamily="2" charset="2"/>
              <a:buChar char="ü"/>
            </a:pPr>
            <a:r>
              <a:rPr lang="en-US" sz="2400" b="1" i="0" dirty="0">
                <a:solidFill>
                  <a:srgbClr val="273239"/>
                </a:solidFill>
                <a:effectLst/>
                <a:latin typeface="Times New Roman" panose="02020603050405020304" pitchFamily="18" charset="0"/>
                <a:cs typeface="Times New Roman" panose="02020603050405020304" pitchFamily="18" charset="0"/>
              </a:rPr>
              <a:t>Path Testing Process</a:t>
            </a:r>
          </a:p>
          <a:p>
            <a:pPr lvl="1" algn="just" fontAlgn="base">
              <a:lnSpc>
                <a:spcPct val="150000"/>
              </a:lnSpc>
            </a:pPr>
            <a:r>
              <a:rPr lang="en-US" sz="2000" b="0" i="0" dirty="0">
                <a:solidFill>
                  <a:srgbClr val="273239"/>
                </a:solidFill>
                <a:effectLst/>
                <a:latin typeface="Times New Roman" panose="02020603050405020304" pitchFamily="18" charset="0"/>
                <a:cs typeface="Times New Roman" panose="02020603050405020304" pitchFamily="18" charset="0"/>
              </a:rPr>
              <a:t>Path Testing process is the technique where the test cases are designed to cover all possible paths within the program's control flow. The goal is to ensure that every independent execution path is tested. Path testing typically follows four steps:</a:t>
            </a:r>
          </a:p>
          <a:p>
            <a:pPr lvl="1" algn="just" fontAlgn="base">
              <a:lnSpc>
                <a:spcPct val="150000"/>
              </a:lnSpc>
            </a:pPr>
            <a:endParaRPr lang="en-US" sz="2000" b="0" i="0" dirty="0">
              <a:solidFill>
                <a:srgbClr val="273239"/>
              </a:solidFill>
              <a:effectLst/>
              <a:latin typeface="Times New Roman" panose="02020603050405020304" pitchFamily="18" charset="0"/>
              <a:cs typeface="Times New Roman" panose="02020603050405020304" pitchFamily="18" charset="0"/>
            </a:endParaRPr>
          </a:p>
          <a:p>
            <a:pPr marL="1371600" lvl="2" indent="-457200" algn="just" fontAlgn="base">
              <a:lnSpc>
                <a:spcPct val="150000"/>
              </a:lnSpc>
              <a:buFont typeface="+mj-lt"/>
              <a:buAutoNum type="arabicPeriod"/>
            </a:pPr>
            <a:r>
              <a:rPr lang="en-US" sz="2000" b="0" i="0" dirty="0">
                <a:solidFill>
                  <a:srgbClr val="273239"/>
                </a:solidFill>
                <a:effectLst/>
                <a:latin typeface="Times New Roman" panose="02020603050405020304" pitchFamily="18" charset="0"/>
                <a:cs typeface="Times New Roman" panose="02020603050405020304" pitchFamily="18" charset="0"/>
              </a:rPr>
              <a:t>Construct the Control Flow Graph.</a:t>
            </a:r>
          </a:p>
          <a:p>
            <a:pPr marL="1371600" lvl="2" indent="-457200" algn="just" fontAlgn="base">
              <a:lnSpc>
                <a:spcPct val="150000"/>
              </a:lnSpc>
              <a:buFont typeface="+mj-lt"/>
              <a:buAutoNum type="arabicPeriod"/>
            </a:pPr>
            <a:r>
              <a:rPr lang="en-US" sz="2000" b="0" i="0" dirty="0">
                <a:solidFill>
                  <a:srgbClr val="273239"/>
                </a:solidFill>
                <a:effectLst/>
                <a:latin typeface="Times New Roman" panose="02020603050405020304" pitchFamily="18" charset="0"/>
                <a:cs typeface="Times New Roman" panose="02020603050405020304" pitchFamily="18" charset="0"/>
              </a:rPr>
              <a:t>Compute the Cyclomatic Complexity of the Graph.</a:t>
            </a:r>
          </a:p>
          <a:p>
            <a:pPr marL="1371600" lvl="2" indent="-457200" algn="just" fontAlgn="base">
              <a:lnSpc>
                <a:spcPct val="150000"/>
              </a:lnSpc>
              <a:buFont typeface="+mj-lt"/>
              <a:buAutoNum type="arabicPeriod"/>
            </a:pPr>
            <a:r>
              <a:rPr lang="en-US" sz="2000" b="0" i="0" dirty="0">
                <a:solidFill>
                  <a:srgbClr val="273239"/>
                </a:solidFill>
                <a:effectLst/>
                <a:latin typeface="Times New Roman" panose="02020603050405020304" pitchFamily="18" charset="0"/>
                <a:cs typeface="Times New Roman" panose="02020603050405020304" pitchFamily="18" charset="0"/>
              </a:rPr>
              <a:t>Identify the Independent Paths.</a:t>
            </a:r>
          </a:p>
          <a:p>
            <a:pPr marL="1371600" lvl="2" indent="-457200" algn="just" fontAlgn="base">
              <a:lnSpc>
                <a:spcPct val="150000"/>
              </a:lnSpc>
              <a:buFont typeface="+mj-lt"/>
              <a:buAutoNum type="arabicPeriod"/>
            </a:pPr>
            <a:r>
              <a:rPr lang="en-US" sz="2000" b="0" i="0" dirty="0">
                <a:solidFill>
                  <a:srgbClr val="273239"/>
                </a:solidFill>
                <a:effectLst/>
                <a:latin typeface="Times New Roman" panose="02020603050405020304" pitchFamily="18" charset="0"/>
                <a:cs typeface="Times New Roman" panose="02020603050405020304" pitchFamily="18" charset="0"/>
              </a:rPr>
              <a:t>Design Test cases from Independent Paths.</a:t>
            </a:r>
          </a:p>
        </p:txBody>
      </p:sp>
    </p:spTree>
    <p:extLst>
      <p:ext uri="{BB962C8B-B14F-4D97-AF65-F5344CB8AC3E}">
        <p14:creationId xmlns:p14="http://schemas.microsoft.com/office/powerpoint/2010/main" val="21749426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ADE6399-4383-F40E-D30E-AF5B5169D6D1}"/>
              </a:ext>
            </a:extLst>
          </p:cNvPr>
          <p:cNvSpPr txBox="1"/>
          <p:nvPr/>
        </p:nvSpPr>
        <p:spPr>
          <a:xfrm>
            <a:off x="284018" y="237282"/>
            <a:ext cx="11623964" cy="6130974"/>
          </a:xfrm>
          <a:prstGeom prst="rect">
            <a:avLst/>
          </a:prstGeom>
          <a:noFill/>
        </p:spPr>
        <p:txBody>
          <a:bodyPr wrap="square">
            <a:spAutoFit/>
          </a:bodyPr>
          <a:lstStyle/>
          <a:p>
            <a:pPr marL="342900" indent="-342900">
              <a:lnSpc>
                <a:spcPct val="150000"/>
              </a:lnSpc>
              <a:buFont typeface="Wingdings" panose="05000000000000000000" pitchFamily="2" charset="2"/>
              <a:buChar char="ü"/>
            </a:pPr>
            <a:r>
              <a:rPr lang="en-US" sz="2400" b="1" dirty="0">
                <a:latin typeface="Times New Roman" panose="02020603050405020304" pitchFamily="18" charset="0"/>
                <a:cs typeface="Times New Roman" panose="02020603050405020304" pitchFamily="18" charset="0"/>
              </a:rPr>
              <a:t>Control Structure Testing</a:t>
            </a:r>
          </a:p>
          <a:p>
            <a:pPr lvl="1">
              <a:lnSpc>
                <a:spcPct val="150000"/>
              </a:lnSpc>
            </a:pPr>
            <a:r>
              <a:rPr lang="en-US" sz="2000" dirty="0">
                <a:latin typeface="Times New Roman" panose="02020603050405020304" pitchFamily="18" charset="0"/>
                <a:cs typeface="Times New Roman" panose="02020603050405020304" pitchFamily="18" charset="0"/>
              </a:rPr>
              <a:t>Control structure testing is another white-box testing method that focuses on testing different </a:t>
            </a:r>
            <a:r>
              <a:rPr lang="en-US" sz="2000" b="1" dirty="0">
                <a:latin typeface="Times New Roman" panose="02020603050405020304" pitchFamily="18" charset="0"/>
                <a:cs typeface="Times New Roman" panose="02020603050405020304" pitchFamily="18" charset="0"/>
              </a:rPr>
              <a:t>control structures</a:t>
            </a:r>
            <a:r>
              <a:rPr lang="en-US" sz="2000" dirty="0">
                <a:latin typeface="Times New Roman" panose="02020603050405020304" pitchFamily="18" charset="0"/>
                <a:cs typeface="Times New Roman" panose="02020603050405020304" pitchFamily="18" charset="0"/>
              </a:rPr>
              <a:t> used in a program, such as conditions and loops.</a:t>
            </a:r>
          </a:p>
          <a:p>
            <a:pPr lvl="1">
              <a:lnSpc>
                <a:spcPct val="150000"/>
              </a:lnSpc>
            </a:pPr>
            <a:r>
              <a:rPr lang="en-US" sz="2000" b="1" dirty="0">
                <a:latin typeface="Times New Roman" panose="02020603050405020304" pitchFamily="18" charset="0"/>
                <a:cs typeface="Times New Roman" panose="02020603050405020304" pitchFamily="18" charset="0"/>
              </a:rPr>
              <a:t>Types of Control Structure Testing</a:t>
            </a:r>
          </a:p>
          <a:p>
            <a:pPr lvl="1">
              <a:lnSpc>
                <a:spcPct val="150000"/>
              </a:lnSpc>
            </a:pPr>
            <a:r>
              <a:rPr lang="en-US" sz="2000" b="1" dirty="0">
                <a:latin typeface="Times New Roman" panose="02020603050405020304" pitchFamily="18" charset="0"/>
                <a:cs typeface="Times New Roman" panose="02020603050405020304" pitchFamily="18" charset="0"/>
              </a:rPr>
              <a:t>a) Condition Testing</a:t>
            </a:r>
          </a:p>
          <a:p>
            <a:pPr lvl="2">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Tests logical conditions (true/false) </a:t>
            </a:r>
          </a:p>
          <a:p>
            <a:pPr lvl="2">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Ensures all possible outcomes are checked </a:t>
            </a:r>
          </a:p>
          <a:p>
            <a:pPr lvl="1">
              <a:lnSpc>
                <a:spcPct val="150000"/>
              </a:lnSpc>
            </a:pPr>
            <a:r>
              <a:rPr lang="en-US" sz="2000" b="1" dirty="0">
                <a:latin typeface="Times New Roman" panose="02020603050405020304" pitchFamily="18" charset="0"/>
                <a:cs typeface="Times New Roman" panose="02020603050405020304" pitchFamily="18" charset="0"/>
              </a:rPr>
              <a:t>b) Loop Testing</a:t>
            </a:r>
          </a:p>
          <a:p>
            <a:pPr lvl="2">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Tests loops for correct execution </a:t>
            </a:r>
          </a:p>
          <a:p>
            <a:pPr lvl="2">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Checks boundary conditions (0, 1, many iterations) </a:t>
            </a:r>
          </a:p>
          <a:p>
            <a:pPr lvl="1">
              <a:lnSpc>
                <a:spcPct val="150000"/>
              </a:lnSpc>
            </a:pPr>
            <a:r>
              <a:rPr lang="en-US" sz="2000" b="1" dirty="0">
                <a:latin typeface="Times New Roman" panose="02020603050405020304" pitchFamily="18" charset="0"/>
                <a:cs typeface="Times New Roman" panose="02020603050405020304" pitchFamily="18" charset="0"/>
              </a:rPr>
              <a:t>c) Data Flow Testing</a:t>
            </a:r>
          </a:p>
          <a:p>
            <a:pPr lvl="2">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Focuses on variables (definition and usage) </a:t>
            </a:r>
          </a:p>
          <a:p>
            <a:pPr lvl="2">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Ensures proper data handling </a:t>
            </a:r>
          </a:p>
        </p:txBody>
      </p:sp>
      <p:sp>
        <p:nvSpPr>
          <p:cNvPr id="5" name="TextBox 4">
            <a:extLst>
              <a:ext uri="{FF2B5EF4-FFF2-40B4-BE49-F238E27FC236}">
                <a16:creationId xmlns:a16="http://schemas.microsoft.com/office/drawing/2014/main" id="{2811A6C3-E73C-E8BA-06AF-6AE5CF19E1C3}"/>
              </a:ext>
            </a:extLst>
          </p:cNvPr>
          <p:cNvSpPr txBox="1"/>
          <p:nvPr/>
        </p:nvSpPr>
        <p:spPr>
          <a:xfrm>
            <a:off x="7003472" y="2590569"/>
            <a:ext cx="5063837" cy="1883657"/>
          </a:xfrm>
          <a:prstGeom prst="rect">
            <a:avLst/>
          </a:prstGeom>
          <a:noFill/>
        </p:spPr>
        <p:txBody>
          <a:bodyPr wrap="square">
            <a:spAutoFit/>
          </a:bodyPr>
          <a:lstStyle/>
          <a:p>
            <a:pPr>
              <a:lnSpc>
                <a:spcPct val="150000"/>
              </a:lnSpc>
            </a:pPr>
            <a:r>
              <a:rPr lang="en-US" sz="2000" b="1" dirty="0">
                <a:latin typeface="Times New Roman" panose="02020603050405020304" pitchFamily="18" charset="0"/>
                <a:cs typeface="Times New Roman" panose="02020603050405020304" pitchFamily="18" charset="0"/>
              </a:rPr>
              <a:t>Key Points</a:t>
            </a:r>
          </a:p>
          <a:p>
            <a:pPr>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Verifies program logic </a:t>
            </a:r>
          </a:p>
          <a:p>
            <a:pPr>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Ensures correctness of conditions and loops </a:t>
            </a:r>
          </a:p>
          <a:p>
            <a:pPr>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Improves reliability </a:t>
            </a:r>
          </a:p>
        </p:txBody>
      </p:sp>
    </p:spTree>
    <p:extLst>
      <p:ext uri="{BB962C8B-B14F-4D97-AF65-F5344CB8AC3E}">
        <p14:creationId xmlns:p14="http://schemas.microsoft.com/office/powerpoint/2010/main" val="35413031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0FF9D214-7195-6F32-22D6-A4BFD90F406D}"/>
              </a:ext>
            </a:extLst>
          </p:cNvPr>
          <p:cNvSpPr txBox="1"/>
          <p:nvPr/>
        </p:nvSpPr>
        <p:spPr>
          <a:xfrm>
            <a:off x="110835" y="311289"/>
            <a:ext cx="12205855" cy="6130974"/>
          </a:xfrm>
          <a:prstGeom prst="rect">
            <a:avLst/>
          </a:prstGeom>
          <a:noFill/>
        </p:spPr>
        <p:txBody>
          <a:bodyPr wrap="square">
            <a:spAutoFit/>
          </a:bodyPr>
          <a:lstStyle/>
          <a:p>
            <a:pPr marL="342900" indent="-342900" algn="just">
              <a:lnSpc>
                <a:spcPct val="150000"/>
              </a:lnSpc>
              <a:buFont typeface="Wingdings" panose="05000000000000000000" pitchFamily="2" charset="2"/>
              <a:buChar char="ü"/>
            </a:pPr>
            <a:r>
              <a:rPr lang="en-US" sz="2400" b="1" dirty="0">
                <a:latin typeface="Times New Roman" panose="02020603050405020304" pitchFamily="18" charset="0"/>
                <a:cs typeface="Times New Roman" panose="02020603050405020304" pitchFamily="18" charset="0"/>
              </a:rPr>
              <a:t>Black-Box Testing Techniques</a:t>
            </a:r>
          </a:p>
          <a:p>
            <a:pPr lvl="1" algn="just">
              <a:lnSpc>
                <a:spcPct val="150000"/>
              </a:lnSpc>
            </a:pPr>
            <a:r>
              <a:rPr lang="en-US" sz="2000" dirty="0">
                <a:latin typeface="Times New Roman" panose="02020603050405020304" pitchFamily="18" charset="0"/>
                <a:cs typeface="Times New Roman" panose="02020603050405020304" pitchFamily="18" charset="0"/>
              </a:rPr>
              <a:t>Black-box testing is a testing technique where the </a:t>
            </a:r>
            <a:r>
              <a:rPr lang="en-US" sz="2000" b="1" dirty="0">
                <a:latin typeface="Times New Roman" panose="02020603050405020304" pitchFamily="18" charset="0"/>
                <a:cs typeface="Times New Roman" panose="02020603050405020304" pitchFamily="18" charset="0"/>
              </a:rPr>
              <a:t>internal structure of the program is not known</a:t>
            </a:r>
            <a:r>
              <a:rPr lang="en-US" sz="2000" dirty="0">
                <a:latin typeface="Times New Roman" panose="02020603050405020304" pitchFamily="18" charset="0"/>
                <a:cs typeface="Times New Roman" panose="02020603050405020304" pitchFamily="18" charset="0"/>
              </a:rPr>
              <a:t>. Testing is based only on inputs and expected outputs. It focuses on validating the functionality of the software.</a:t>
            </a:r>
          </a:p>
          <a:p>
            <a:pPr lvl="1" algn="just">
              <a:lnSpc>
                <a:spcPct val="150000"/>
              </a:lnSpc>
            </a:pPr>
            <a:r>
              <a:rPr lang="en-US" sz="2000" b="1" dirty="0">
                <a:latin typeface="Times New Roman" panose="02020603050405020304" pitchFamily="18" charset="0"/>
                <a:cs typeface="Times New Roman" panose="02020603050405020304" pitchFamily="18" charset="0"/>
              </a:rPr>
              <a:t>Key Points</a:t>
            </a:r>
          </a:p>
          <a:p>
            <a:pPr lvl="2"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No knowledge of internal code required </a:t>
            </a:r>
          </a:p>
          <a:p>
            <a:pPr lvl="2"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Focuses on </a:t>
            </a:r>
            <a:r>
              <a:rPr lang="en-US" sz="2000" b="1" dirty="0">
                <a:latin typeface="Times New Roman" panose="02020603050405020304" pitchFamily="18" charset="0"/>
                <a:cs typeface="Times New Roman" panose="02020603050405020304" pitchFamily="18" charset="0"/>
              </a:rPr>
              <a:t>requirements and functionality</a:t>
            </a:r>
            <a:r>
              <a:rPr lang="en-US" sz="2000" dirty="0">
                <a:latin typeface="Times New Roman" panose="02020603050405020304" pitchFamily="18" charset="0"/>
                <a:cs typeface="Times New Roman" panose="02020603050405020304" pitchFamily="18" charset="0"/>
              </a:rPr>
              <a:t> </a:t>
            </a:r>
          </a:p>
          <a:p>
            <a:pPr lvl="2"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Performed by testers</a:t>
            </a:r>
          </a:p>
          <a:p>
            <a:pPr lvl="1" algn="just">
              <a:lnSpc>
                <a:spcPct val="150000"/>
              </a:lnSpc>
            </a:pPr>
            <a:r>
              <a:rPr lang="en-US" sz="2000" b="1" dirty="0">
                <a:latin typeface="Times New Roman" panose="02020603050405020304" pitchFamily="18" charset="0"/>
                <a:cs typeface="Times New Roman" panose="02020603050405020304" pitchFamily="18" charset="0"/>
              </a:rPr>
              <a:t>Common Black-Box Testing Techniques</a:t>
            </a:r>
          </a:p>
          <a:p>
            <a:pPr lvl="2" algn="just">
              <a:lnSpc>
                <a:spcPct val="150000"/>
              </a:lnSpc>
            </a:pPr>
            <a:r>
              <a:rPr lang="en-US" sz="2000" b="1" dirty="0">
                <a:latin typeface="Times New Roman" panose="02020603050405020304" pitchFamily="18" charset="0"/>
                <a:cs typeface="Times New Roman" panose="02020603050405020304" pitchFamily="18" charset="0"/>
              </a:rPr>
              <a:t>1. Equivalence Partitioning</a:t>
            </a:r>
          </a:p>
          <a:p>
            <a:pPr lvl="2" algn="just">
              <a:lnSpc>
                <a:spcPct val="150000"/>
              </a:lnSpc>
            </a:pPr>
            <a:r>
              <a:rPr lang="en-US" sz="2000" dirty="0">
                <a:latin typeface="Times New Roman" panose="02020603050405020304" pitchFamily="18" charset="0"/>
                <a:cs typeface="Times New Roman" panose="02020603050405020304" pitchFamily="18" charset="0"/>
              </a:rPr>
              <a:t>Input data is divided into groups (valid and invalid), and one value from each group is tested.</a:t>
            </a:r>
          </a:p>
          <a:p>
            <a:pPr lvl="2" algn="just">
              <a:lnSpc>
                <a:spcPct val="150000"/>
              </a:lnSpc>
            </a:pPr>
            <a:r>
              <a:rPr lang="en-US" sz="2000" dirty="0">
                <a:latin typeface="Times New Roman" panose="02020603050405020304" pitchFamily="18" charset="0"/>
                <a:cs typeface="Times New Roman" panose="02020603050405020304" pitchFamily="18" charset="0"/>
              </a:rPr>
              <a:t> Reduces number of test cases.</a:t>
            </a:r>
          </a:p>
          <a:p>
            <a:pPr algn="just">
              <a:lnSpc>
                <a:spcPct val="150000"/>
              </a:lnSpc>
            </a:pPr>
            <a:endParaRPr lang="en-US" sz="2000" dirty="0">
              <a:latin typeface="Times New Roman" panose="02020603050405020304" pitchFamily="18" charset="0"/>
              <a:cs typeface="Times New Roman" panose="02020603050405020304" pitchFamily="18" charset="0"/>
            </a:endParaRPr>
          </a:p>
          <a:p>
            <a:pPr algn="just">
              <a:lnSpc>
                <a:spcPct val="150000"/>
              </a:lnSpc>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19968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BCD284E-4492-17D8-BC82-EE88E14A545B}"/>
              </a:ext>
            </a:extLst>
          </p:cNvPr>
          <p:cNvSpPr txBox="1"/>
          <p:nvPr/>
        </p:nvSpPr>
        <p:spPr>
          <a:xfrm>
            <a:off x="471054" y="667665"/>
            <a:ext cx="11111346" cy="5114926"/>
          </a:xfrm>
          <a:prstGeom prst="rect">
            <a:avLst/>
          </a:prstGeom>
          <a:noFill/>
        </p:spPr>
        <p:txBody>
          <a:bodyPr wrap="square">
            <a:spAutoFit/>
          </a:bodyPr>
          <a:lstStyle/>
          <a:p>
            <a:pPr algn="just">
              <a:lnSpc>
                <a:spcPct val="150000"/>
              </a:lnSpc>
            </a:pPr>
            <a:r>
              <a:rPr lang="en-US" sz="2000" b="1" dirty="0">
                <a:latin typeface="Times New Roman" panose="02020603050405020304" pitchFamily="18" charset="0"/>
                <a:cs typeface="Times New Roman" panose="02020603050405020304" pitchFamily="18" charset="0"/>
              </a:rPr>
              <a:t>2. Boundary Value Analysis</a:t>
            </a:r>
          </a:p>
          <a:p>
            <a:pPr algn="just">
              <a:lnSpc>
                <a:spcPct val="150000"/>
              </a:lnSpc>
            </a:pPr>
            <a:r>
              <a:rPr lang="en-US" sz="2000" dirty="0">
                <a:latin typeface="Times New Roman" panose="02020603050405020304" pitchFamily="18" charset="0"/>
                <a:cs typeface="Times New Roman" panose="02020603050405020304" pitchFamily="18" charset="0"/>
              </a:rPr>
              <a:t>Tests values at the boundaries (minimum, maximum, just inside/outside limits).</a:t>
            </a:r>
          </a:p>
          <a:p>
            <a:pPr algn="just">
              <a:lnSpc>
                <a:spcPct val="150000"/>
              </a:lnSpc>
            </a:pPr>
            <a:r>
              <a:rPr lang="en-US" sz="2000" dirty="0">
                <a:latin typeface="Times New Roman" panose="02020603050405020304" pitchFamily="18" charset="0"/>
                <a:cs typeface="Times New Roman" panose="02020603050405020304" pitchFamily="18" charset="0"/>
              </a:rPr>
              <a:t>	Errors are common at boundaries.</a:t>
            </a:r>
            <a:endParaRPr lang="en-US" sz="2000" b="1" dirty="0">
              <a:latin typeface="Times New Roman" panose="02020603050405020304" pitchFamily="18" charset="0"/>
              <a:cs typeface="Times New Roman" panose="02020603050405020304" pitchFamily="18" charset="0"/>
            </a:endParaRPr>
          </a:p>
          <a:p>
            <a:pPr algn="just">
              <a:lnSpc>
                <a:spcPct val="150000"/>
              </a:lnSpc>
            </a:pPr>
            <a:endParaRPr lang="en-US" sz="2000" b="1" dirty="0">
              <a:latin typeface="Times New Roman" panose="02020603050405020304" pitchFamily="18" charset="0"/>
              <a:cs typeface="Times New Roman" panose="02020603050405020304" pitchFamily="18" charset="0"/>
            </a:endParaRPr>
          </a:p>
          <a:p>
            <a:pPr algn="just">
              <a:lnSpc>
                <a:spcPct val="150000"/>
              </a:lnSpc>
            </a:pPr>
            <a:r>
              <a:rPr lang="en-US" sz="2000" b="1" dirty="0">
                <a:latin typeface="Times New Roman" panose="02020603050405020304" pitchFamily="18" charset="0"/>
                <a:cs typeface="Times New Roman" panose="02020603050405020304" pitchFamily="18" charset="0"/>
              </a:rPr>
              <a:t>3. Decision Table Testing</a:t>
            </a:r>
          </a:p>
          <a:p>
            <a:pPr algn="just">
              <a:lnSpc>
                <a:spcPct val="150000"/>
              </a:lnSpc>
            </a:pPr>
            <a:r>
              <a:rPr lang="en-US" sz="2000" dirty="0">
                <a:latin typeface="Times New Roman" panose="02020603050405020304" pitchFamily="18" charset="0"/>
                <a:cs typeface="Times New Roman" panose="02020603050405020304" pitchFamily="18" charset="0"/>
              </a:rPr>
              <a:t>Uses a table to represent different conditions and actions.</a:t>
            </a:r>
          </a:p>
          <a:p>
            <a:pPr algn="just">
              <a:lnSpc>
                <a:spcPct val="150000"/>
              </a:lnSpc>
            </a:pPr>
            <a:r>
              <a:rPr lang="en-US" sz="2000" dirty="0">
                <a:latin typeface="Times New Roman" panose="02020603050405020304" pitchFamily="18" charset="0"/>
                <a:cs typeface="Times New Roman" panose="02020603050405020304" pitchFamily="18" charset="0"/>
              </a:rPr>
              <a:t>	 Useful for complex logic.</a:t>
            </a:r>
          </a:p>
          <a:p>
            <a:pPr algn="just">
              <a:lnSpc>
                <a:spcPct val="150000"/>
              </a:lnSpc>
            </a:pP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b="1" dirty="0">
                <a:latin typeface="Times New Roman" panose="02020603050405020304" pitchFamily="18" charset="0"/>
                <a:cs typeface="Times New Roman" panose="02020603050405020304" pitchFamily="18" charset="0"/>
              </a:rPr>
              <a:t>4. State Transition Testing</a:t>
            </a:r>
          </a:p>
          <a:p>
            <a:pPr algn="just">
              <a:lnSpc>
                <a:spcPct val="150000"/>
              </a:lnSpc>
            </a:pPr>
            <a:r>
              <a:rPr lang="en-US" sz="2000" dirty="0">
                <a:latin typeface="Times New Roman" panose="02020603050405020304" pitchFamily="18" charset="0"/>
                <a:cs typeface="Times New Roman" panose="02020603050405020304" pitchFamily="18" charset="0"/>
              </a:rPr>
              <a:t>Tests system behavior for different states and transitions.</a:t>
            </a:r>
          </a:p>
          <a:p>
            <a:pPr algn="just">
              <a:lnSpc>
                <a:spcPct val="150000"/>
              </a:lnSpc>
            </a:pPr>
            <a:r>
              <a:rPr lang="en-US" sz="2000" dirty="0">
                <a:latin typeface="Times New Roman" panose="02020603050405020304" pitchFamily="18" charset="0"/>
                <a:cs typeface="Times New Roman" panose="02020603050405020304" pitchFamily="18" charset="0"/>
              </a:rPr>
              <a:t>	 Useful for systems with multiple states (e.g., login systems).</a:t>
            </a:r>
          </a:p>
        </p:txBody>
      </p:sp>
    </p:spTree>
    <p:extLst>
      <p:ext uri="{BB962C8B-B14F-4D97-AF65-F5344CB8AC3E}">
        <p14:creationId xmlns:p14="http://schemas.microsoft.com/office/powerpoint/2010/main" val="22030389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B87F3FB-1AA7-3772-7252-9AF3C4835F56}"/>
              </a:ext>
            </a:extLst>
          </p:cNvPr>
          <p:cNvSpPr txBox="1"/>
          <p:nvPr/>
        </p:nvSpPr>
        <p:spPr>
          <a:xfrm>
            <a:off x="152399" y="390482"/>
            <a:ext cx="11610109" cy="6130974"/>
          </a:xfrm>
          <a:prstGeom prst="rect">
            <a:avLst/>
          </a:prstGeom>
          <a:noFill/>
        </p:spPr>
        <p:txBody>
          <a:bodyPr wrap="square">
            <a:spAutoFit/>
          </a:bodyPr>
          <a:lstStyle/>
          <a:p>
            <a:pPr marL="342900" indent="-342900" algn="just">
              <a:lnSpc>
                <a:spcPct val="150000"/>
              </a:lnSpc>
              <a:buFont typeface="Wingdings" panose="05000000000000000000" pitchFamily="2" charset="2"/>
              <a:buChar char="ü"/>
            </a:pPr>
            <a:r>
              <a:rPr lang="en-US" sz="2400" b="1" dirty="0">
                <a:latin typeface="Times New Roman" panose="02020603050405020304" pitchFamily="18" charset="0"/>
                <a:cs typeface="Times New Roman" panose="02020603050405020304" pitchFamily="18" charset="0"/>
              </a:rPr>
              <a:t>Types of Software Maintenance</a:t>
            </a:r>
          </a:p>
          <a:p>
            <a:pPr lvl="1" algn="just">
              <a:lnSpc>
                <a:spcPct val="150000"/>
              </a:lnSpc>
            </a:pPr>
            <a:r>
              <a:rPr lang="en-US" sz="2000" dirty="0">
                <a:latin typeface="Times New Roman" panose="02020603050405020304" pitchFamily="18" charset="0"/>
                <a:cs typeface="Times New Roman" panose="02020603050405020304" pitchFamily="18" charset="0"/>
              </a:rPr>
              <a:t>Software maintenance refers to the process of </a:t>
            </a:r>
            <a:r>
              <a:rPr lang="en-US" sz="2000" b="1" dirty="0">
                <a:latin typeface="Times New Roman" panose="02020603050405020304" pitchFamily="18" charset="0"/>
                <a:cs typeface="Times New Roman" panose="02020603050405020304" pitchFamily="18" charset="0"/>
              </a:rPr>
              <a:t>modifying and updating software after delivery</a:t>
            </a:r>
            <a:r>
              <a:rPr lang="en-US" sz="2000" dirty="0">
                <a:latin typeface="Times New Roman" panose="02020603050405020304" pitchFamily="18" charset="0"/>
                <a:cs typeface="Times New Roman" panose="02020603050405020304" pitchFamily="18" charset="0"/>
              </a:rPr>
              <a:t> to fix issues, improve performance, or adapt to changes.</a:t>
            </a:r>
          </a:p>
          <a:p>
            <a:pPr lvl="1" algn="just">
              <a:lnSpc>
                <a:spcPct val="150000"/>
              </a:lnSpc>
            </a:pPr>
            <a:r>
              <a:rPr lang="en-US" sz="2000" dirty="0">
                <a:latin typeface="Times New Roman" panose="02020603050405020304" pitchFamily="18" charset="0"/>
                <a:cs typeface="Times New Roman" panose="02020603050405020304" pitchFamily="18" charset="0"/>
              </a:rPr>
              <a:t>There are four main types of maintenance:</a:t>
            </a:r>
          </a:p>
          <a:p>
            <a:pPr lvl="1" algn="just">
              <a:lnSpc>
                <a:spcPct val="150000"/>
              </a:lnSpc>
            </a:pPr>
            <a:r>
              <a:rPr lang="en-US" sz="2000" b="1" dirty="0">
                <a:latin typeface="Times New Roman" panose="02020603050405020304" pitchFamily="18" charset="0"/>
                <a:cs typeface="Times New Roman" panose="02020603050405020304" pitchFamily="18" charset="0"/>
              </a:rPr>
              <a:t>1. Corrective Maintenance</a:t>
            </a:r>
          </a:p>
          <a:p>
            <a:pPr lvl="2" algn="just">
              <a:lnSpc>
                <a:spcPct val="150000"/>
              </a:lnSpc>
            </a:pPr>
            <a:r>
              <a:rPr lang="en-US" sz="2000" dirty="0">
                <a:latin typeface="Times New Roman" panose="02020603050405020304" pitchFamily="18" charset="0"/>
                <a:cs typeface="Times New Roman" panose="02020603050405020304" pitchFamily="18" charset="0"/>
              </a:rPr>
              <a:t>Corrective maintenance is performed to </a:t>
            </a:r>
            <a:r>
              <a:rPr lang="en-US" sz="2000" b="1" dirty="0">
                <a:latin typeface="Times New Roman" panose="02020603050405020304" pitchFamily="18" charset="0"/>
                <a:cs typeface="Times New Roman" panose="02020603050405020304" pitchFamily="18" charset="0"/>
              </a:rPr>
              <a:t>fix errors or bugs</a:t>
            </a:r>
            <a:r>
              <a:rPr lang="en-US" sz="2000" dirty="0">
                <a:latin typeface="Times New Roman" panose="02020603050405020304" pitchFamily="18" charset="0"/>
                <a:cs typeface="Times New Roman" panose="02020603050405020304" pitchFamily="18" charset="0"/>
              </a:rPr>
              <a:t> found in the software after it has been deployed. These errors may be discovered by users or testers.</a:t>
            </a:r>
          </a:p>
          <a:p>
            <a:pPr lvl="2" algn="just">
              <a:lnSpc>
                <a:spcPct val="150000"/>
              </a:lnSpc>
            </a:pPr>
            <a:r>
              <a:rPr lang="en-US" sz="2000" b="1" dirty="0">
                <a:latin typeface="Times New Roman" panose="02020603050405020304" pitchFamily="18" charset="0"/>
                <a:cs typeface="Times New Roman" panose="02020603050405020304" pitchFamily="18" charset="0"/>
              </a:rPr>
              <a:t>Key Points</a:t>
            </a:r>
          </a:p>
          <a:p>
            <a:pPr lvl="2"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Fixes </a:t>
            </a:r>
            <a:r>
              <a:rPr lang="en-US" sz="2000" b="1" dirty="0">
                <a:latin typeface="Times New Roman" panose="02020603050405020304" pitchFamily="18" charset="0"/>
                <a:cs typeface="Times New Roman" panose="02020603050405020304" pitchFamily="18" charset="0"/>
              </a:rPr>
              <a:t>defects and bugs</a:t>
            </a:r>
            <a:r>
              <a:rPr lang="en-US" sz="2000" dirty="0">
                <a:latin typeface="Times New Roman" panose="02020603050405020304" pitchFamily="18" charset="0"/>
                <a:cs typeface="Times New Roman" panose="02020603050405020304" pitchFamily="18" charset="0"/>
              </a:rPr>
              <a:t> </a:t>
            </a:r>
          </a:p>
          <a:p>
            <a:pPr lvl="2"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Done after system deployment </a:t>
            </a:r>
          </a:p>
          <a:p>
            <a:pPr lvl="2"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Improves system correctness </a:t>
            </a:r>
          </a:p>
          <a:p>
            <a:pPr lvl="2" algn="just">
              <a:lnSpc>
                <a:spcPct val="150000"/>
              </a:lnSpc>
            </a:pP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Example:</a:t>
            </a:r>
            <a:r>
              <a:rPr lang="en-US" sz="2000" dirty="0">
                <a:latin typeface="Times New Roman" panose="02020603050405020304" pitchFamily="18" charset="0"/>
                <a:cs typeface="Times New Roman" panose="02020603050405020304" pitchFamily="18" charset="0"/>
              </a:rPr>
              <a:t> Fixing a login error in an application.</a:t>
            </a:r>
          </a:p>
          <a:p>
            <a:pPr algn="just">
              <a:lnSpc>
                <a:spcPct val="150000"/>
              </a:lnSpc>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87068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093FB4C-7468-C393-3FA4-706CA53962CE}"/>
              </a:ext>
            </a:extLst>
          </p:cNvPr>
          <p:cNvSpPr txBox="1"/>
          <p:nvPr/>
        </p:nvSpPr>
        <p:spPr>
          <a:xfrm>
            <a:off x="581890" y="501594"/>
            <a:ext cx="10640291" cy="4191981"/>
          </a:xfrm>
          <a:prstGeom prst="rect">
            <a:avLst/>
          </a:prstGeom>
          <a:noFill/>
        </p:spPr>
        <p:txBody>
          <a:bodyPr wrap="square">
            <a:spAutoFit/>
          </a:bodyPr>
          <a:lstStyle/>
          <a:p>
            <a:pPr algn="just">
              <a:lnSpc>
                <a:spcPct val="150000"/>
              </a:lnSpc>
            </a:pP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b="1" dirty="0">
                <a:latin typeface="Times New Roman" panose="02020603050405020304" pitchFamily="18" charset="0"/>
                <a:cs typeface="Times New Roman" panose="02020603050405020304" pitchFamily="18" charset="0"/>
              </a:rPr>
              <a:t>2. Adaptive Maintenance</a:t>
            </a:r>
          </a:p>
          <a:p>
            <a:pPr lvl="1" algn="just">
              <a:lnSpc>
                <a:spcPct val="150000"/>
              </a:lnSpc>
            </a:pPr>
            <a:r>
              <a:rPr lang="en-US" sz="2000" dirty="0">
                <a:latin typeface="Times New Roman" panose="02020603050405020304" pitchFamily="18" charset="0"/>
                <a:cs typeface="Times New Roman" panose="02020603050405020304" pitchFamily="18" charset="0"/>
              </a:rPr>
              <a:t>Adaptive maintenance is done to </a:t>
            </a:r>
            <a:r>
              <a:rPr lang="en-US" sz="2000" b="1" dirty="0">
                <a:latin typeface="Times New Roman" panose="02020603050405020304" pitchFamily="18" charset="0"/>
                <a:cs typeface="Times New Roman" panose="02020603050405020304" pitchFamily="18" charset="0"/>
              </a:rPr>
              <a:t>modify the software to work in a new or changing environment</a:t>
            </a:r>
            <a:r>
              <a:rPr lang="en-US" sz="2000" dirty="0">
                <a:latin typeface="Times New Roman" panose="02020603050405020304" pitchFamily="18" charset="0"/>
                <a:cs typeface="Times New Roman" panose="02020603050405020304" pitchFamily="18" charset="0"/>
              </a:rPr>
              <a:t>. This may include changes in hardware, operating systems, or business rules.</a:t>
            </a:r>
          </a:p>
          <a:p>
            <a:pPr lvl="1" algn="just">
              <a:lnSpc>
                <a:spcPct val="150000"/>
              </a:lnSpc>
            </a:pPr>
            <a:r>
              <a:rPr lang="en-US" sz="2000" b="1" dirty="0">
                <a:latin typeface="Times New Roman" panose="02020603050405020304" pitchFamily="18" charset="0"/>
                <a:cs typeface="Times New Roman" panose="02020603050405020304" pitchFamily="18" charset="0"/>
              </a:rPr>
              <a:t>Key Points</a:t>
            </a:r>
          </a:p>
          <a:p>
            <a:pPr lvl="1"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Adapts software to </a:t>
            </a:r>
            <a:r>
              <a:rPr lang="en-US" sz="2000" b="1" dirty="0">
                <a:latin typeface="Times New Roman" panose="02020603050405020304" pitchFamily="18" charset="0"/>
                <a:cs typeface="Times New Roman" panose="02020603050405020304" pitchFamily="18" charset="0"/>
              </a:rPr>
              <a:t>new environments</a:t>
            </a:r>
            <a:r>
              <a:rPr lang="en-US" sz="2000" dirty="0">
                <a:latin typeface="Times New Roman" panose="02020603050405020304" pitchFamily="18" charset="0"/>
                <a:cs typeface="Times New Roman" panose="02020603050405020304" pitchFamily="18" charset="0"/>
              </a:rPr>
              <a:t> </a:t>
            </a:r>
          </a:p>
          <a:p>
            <a:pPr lvl="1"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Required due to </a:t>
            </a:r>
            <a:r>
              <a:rPr lang="en-US" sz="2000" b="1" dirty="0">
                <a:latin typeface="Times New Roman" panose="02020603050405020304" pitchFamily="18" charset="0"/>
                <a:cs typeface="Times New Roman" panose="02020603050405020304" pitchFamily="18" charset="0"/>
              </a:rPr>
              <a:t>technology or platform changes</a:t>
            </a:r>
            <a:r>
              <a:rPr lang="en-US" sz="2000" dirty="0">
                <a:latin typeface="Times New Roman" panose="02020603050405020304" pitchFamily="18" charset="0"/>
                <a:cs typeface="Times New Roman" panose="02020603050405020304" pitchFamily="18" charset="0"/>
              </a:rPr>
              <a:t> </a:t>
            </a:r>
          </a:p>
          <a:p>
            <a:pPr lvl="1"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Ensures compatibility ‘</a:t>
            </a:r>
          </a:p>
          <a:p>
            <a:pPr lvl="1" algn="just">
              <a:lnSpc>
                <a:spcPct val="150000"/>
              </a:lnSpc>
            </a:pP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Example:</a:t>
            </a:r>
            <a:r>
              <a:rPr lang="en-US" sz="2000" dirty="0">
                <a:latin typeface="Times New Roman" panose="02020603050405020304" pitchFamily="18" charset="0"/>
                <a:cs typeface="Times New Roman" panose="02020603050405020304" pitchFamily="18" charset="0"/>
              </a:rPr>
              <a:t> Updating software to run on a new operating system.</a:t>
            </a:r>
          </a:p>
        </p:txBody>
      </p:sp>
    </p:spTree>
    <p:extLst>
      <p:ext uri="{BB962C8B-B14F-4D97-AF65-F5344CB8AC3E}">
        <p14:creationId xmlns:p14="http://schemas.microsoft.com/office/powerpoint/2010/main" val="31605889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F2F9D5A-13FC-C1D2-B701-4F736CEF85CB}"/>
              </a:ext>
            </a:extLst>
          </p:cNvPr>
          <p:cNvSpPr txBox="1"/>
          <p:nvPr/>
        </p:nvSpPr>
        <p:spPr>
          <a:xfrm>
            <a:off x="554179" y="817423"/>
            <a:ext cx="11319167" cy="4653646"/>
          </a:xfrm>
          <a:prstGeom prst="rect">
            <a:avLst/>
          </a:prstGeom>
          <a:noFill/>
        </p:spPr>
        <p:txBody>
          <a:bodyPr wrap="square">
            <a:spAutoFit/>
          </a:bodyPr>
          <a:lstStyle/>
          <a:p>
            <a:pPr algn="just">
              <a:lnSpc>
                <a:spcPct val="150000"/>
              </a:lnSpc>
            </a:pPr>
            <a:r>
              <a:rPr lang="en-US" sz="2000" b="1" dirty="0">
                <a:latin typeface="Times New Roman" panose="02020603050405020304" pitchFamily="18" charset="0"/>
                <a:cs typeface="Times New Roman" panose="02020603050405020304" pitchFamily="18" charset="0"/>
              </a:rPr>
              <a:t>3. Perfective Maintenance</a:t>
            </a:r>
          </a:p>
          <a:p>
            <a:pPr lvl="1" algn="just">
              <a:lnSpc>
                <a:spcPct val="150000"/>
              </a:lnSpc>
            </a:pPr>
            <a:r>
              <a:rPr lang="en-US" sz="2000" dirty="0">
                <a:latin typeface="Times New Roman" panose="02020603050405020304" pitchFamily="18" charset="0"/>
                <a:cs typeface="Times New Roman" panose="02020603050405020304" pitchFamily="18" charset="0"/>
              </a:rPr>
              <a:t>Perfective maintenance focuses on </a:t>
            </a:r>
            <a:r>
              <a:rPr lang="en-US" sz="2000" b="1" dirty="0">
                <a:latin typeface="Times New Roman" panose="02020603050405020304" pitchFamily="18" charset="0"/>
                <a:cs typeface="Times New Roman" panose="02020603050405020304" pitchFamily="18" charset="0"/>
              </a:rPr>
              <a:t>improving the performance or adding new features</a:t>
            </a:r>
            <a:r>
              <a:rPr lang="en-US" sz="2000" dirty="0">
                <a:latin typeface="Times New Roman" panose="02020603050405020304" pitchFamily="18" charset="0"/>
                <a:cs typeface="Times New Roman" panose="02020603050405020304" pitchFamily="18" charset="0"/>
              </a:rPr>
              <a:t> to the system based on user feedback.</a:t>
            </a:r>
          </a:p>
          <a:p>
            <a:pPr lvl="1" algn="just">
              <a:lnSpc>
                <a:spcPct val="150000"/>
              </a:lnSpc>
            </a:pPr>
            <a:r>
              <a:rPr lang="en-US" sz="2000" b="1" dirty="0">
                <a:latin typeface="Times New Roman" panose="02020603050405020304" pitchFamily="18" charset="0"/>
                <a:cs typeface="Times New Roman" panose="02020603050405020304" pitchFamily="18" charset="0"/>
              </a:rPr>
              <a:t>Key Points</a:t>
            </a:r>
          </a:p>
          <a:p>
            <a:pPr lvl="1"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Enhances </a:t>
            </a:r>
            <a:r>
              <a:rPr lang="en-US" sz="2000" b="1" dirty="0">
                <a:latin typeface="Times New Roman" panose="02020603050405020304" pitchFamily="18" charset="0"/>
                <a:cs typeface="Times New Roman" panose="02020603050405020304" pitchFamily="18" charset="0"/>
              </a:rPr>
              <a:t>performance and functionality</a:t>
            </a:r>
            <a:r>
              <a:rPr lang="en-US" sz="2000" dirty="0">
                <a:latin typeface="Times New Roman" panose="02020603050405020304" pitchFamily="18" charset="0"/>
                <a:cs typeface="Times New Roman" panose="02020603050405020304" pitchFamily="18" charset="0"/>
              </a:rPr>
              <a:t> </a:t>
            </a:r>
          </a:p>
          <a:p>
            <a:pPr lvl="1"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Adds new features or improves existing ones </a:t>
            </a:r>
          </a:p>
          <a:p>
            <a:pPr lvl="1"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Based on user requirements </a:t>
            </a:r>
          </a:p>
          <a:p>
            <a:pPr lvl="1" algn="just">
              <a:lnSpc>
                <a:spcPct val="150000"/>
              </a:lnSpc>
            </a:pP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Example:</a:t>
            </a:r>
            <a:r>
              <a:rPr lang="en-US" sz="2000" dirty="0">
                <a:latin typeface="Times New Roman" panose="02020603050405020304" pitchFamily="18" charset="0"/>
                <a:cs typeface="Times New Roman" panose="02020603050405020304" pitchFamily="18" charset="0"/>
              </a:rPr>
              <a:t> Adding a new search feature to an application.</a:t>
            </a:r>
          </a:p>
          <a:p>
            <a:pPr lvl="1" algn="just">
              <a:lnSpc>
                <a:spcPct val="150000"/>
              </a:lnSpc>
            </a:pPr>
            <a:endParaRPr lang="en-US" sz="2000" dirty="0">
              <a:latin typeface="Times New Roman" panose="02020603050405020304" pitchFamily="18" charset="0"/>
              <a:cs typeface="Times New Roman" panose="02020603050405020304" pitchFamily="18" charset="0"/>
            </a:endParaRPr>
          </a:p>
          <a:p>
            <a:pPr algn="just">
              <a:lnSpc>
                <a:spcPct val="150000"/>
              </a:lnSpc>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74330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E77C52B-26B2-BE02-93FF-C843E920FECA}"/>
              </a:ext>
            </a:extLst>
          </p:cNvPr>
          <p:cNvSpPr txBox="1"/>
          <p:nvPr/>
        </p:nvSpPr>
        <p:spPr>
          <a:xfrm>
            <a:off x="983673" y="1102177"/>
            <a:ext cx="9975272" cy="3729932"/>
          </a:xfrm>
          <a:prstGeom prst="rect">
            <a:avLst/>
          </a:prstGeom>
          <a:noFill/>
        </p:spPr>
        <p:txBody>
          <a:bodyPr wrap="square">
            <a:spAutoFit/>
          </a:bodyPr>
          <a:lstStyle/>
          <a:p>
            <a:pPr algn="just">
              <a:lnSpc>
                <a:spcPct val="150000"/>
              </a:lnSpc>
            </a:pPr>
            <a:r>
              <a:rPr lang="en-US" sz="2000" b="1" dirty="0">
                <a:latin typeface="Times New Roman" panose="02020603050405020304" pitchFamily="18" charset="0"/>
                <a:cs typeface="Times New Roman" panose="02020603050405020304" pitchFamily="18" charset="0"/>
              </a:rPr>
              <a:t>4. Preventive Maintenance</a:t>
            </a:r>
          </a:p>
          <a:p>
            <a:pPr lvl="1" algn="just">
              <a:lnSpc>
                <a:spcPct val="150000"/>
              </a:lnSpc>
            </a:pPr>
            <a:r>
              <a:rPr lang="en-US" sz="2000" dirty="0">
                <a:latin typeface="Times New Roman" panose="02020603050405020304" pitchFamily="18" charset="0"/>
                <a:cs typeface="Times New Roman" panose="02020603050405020304" pitchFamily="18" charset="0"/>
              </a:rPr>
              <a:t>Preventive maintenance is done to </a:t>
            </a:r>
            <a:r>
              <a:rPr lang="en-US" sz="2000" b="1" dirty="0">
                <a:latin typeface="Times New Roman" panose="02020603050405020304" pitchFamily="18" charset="0"/>
                <a:cs typeface="Times New Roman" panose="02020603050405020304" pitchFamily="18" charset="0"/>
              </a:rPr>
              <a:t>prevent future problems</a:t>
            </a:r>
            <a:r>
              <a:rPr lang="en-US" sz="2000" dirty="0">
                <a:latin typeface="Times New Roman" panose="02020603050405020304" pitchFamily="18" charset="0"/>
                <a:cs typeface="Times New Roman" panose="02020603050405020304" pitchFamily="18" charset="0"/>
              </a:rPr>
              <a:t> by improving the internal structure of the software.</a:t>
            </a:r>
          </a:p>
          <a:p>
            <a:pPr lvl="1" algn="just">
              <a:lnSpc>
                <a:spcPct val="150000"/>
              </a:lnSpc>
            </a:pPr>
            <a:r>
              <a:rPr lang="en-US" sz="2000" b="1" dirty="0">
                <a:latin typeface="Times New Roman" panose="02020603050405020304" pitchFamily="18" charset="0"/>
                <a:cs typeface="Times New Roman" panose="02020603050405020304" pitchFamily="18" charset="0"/>
              </a:rPr>
              <a:t>Key Points</a:t>
            </a:r>
          </a:p>
          <a:p>
            <a:pPr lvl="1"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Reduces chances of future errors </a:t>
            </a:r>
          </a:p>
          <a:p>
            <a:pPr lvl="1"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Improves code quality and maintainability </a:t>
            </a:r>
          </a:p>
          <a:p>
            <a:pPr lvl="1"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Includes code optimization and refactoring </a:t>
            </a:r>
          </a:p>
          <a:p>
            <a:pPr lvl="1" algn="just">
              <a:lnSpc>
                <a:spcPct val="150000"/>
              </a:lnSpc>
            </a:pP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Example:</a:t>
            </a:r>
            <a:r>
              <a:rPr lang="en-US" sz="2000" dirty="0">
                <a:latin typeface="Times New Roman" panose="02020603050405020304" pitchFamily="18" charset="0"/>
                <a:cs typeface="Times New Roman" panose="02020603050405020304" pitchFamily="18" charset="0"/>
              </a:rPr>
              <a:t> Refactoring code to make it cleaner and more efficient.</a:t>
            </a:r>
          </a:p>
        </p:txBody>
      </p:sp>
    </p:spTree>
    <p:extLst>
      <p:ext uri="{BB962C8B-B14F-4D97-AF65-F5344CB8AC3E}">
        <p14:creationId xmlns:p14="http://schemas.microsoft.com/office/powerpoint/2010/main" val="11299171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E2EB725-8D8E-2817-EA9D-4689A0CAB2E2}"/>
              </a:ext>
            </a:extLst>
          </p:cNvPr>
          <p:cNvSpPr txBox="1"/>
          <p:nvPr/>
        </p:nvSpPr>
        <p:spPr>
          <a:xfrm>
            <a:off x="110833" y="85861"/>
            <a:ext cx="11914912" cy="6582828"/>
          </a:xfrm>
          <a:prstGeom prst="rect">
            <a:avLst/>
          </a:prstGeom>
          <a:noFill/>
        </p:spPr>
        <p:txBody>
          <a:bodyPr wrap="square">
            <a:spAutoFit/>
          </a:bodyPr>
          <a:lstStyle/>
          <a:p>
            <a:pPr marL="342900" indent="-342900">
              <a:buFont typeface="Wingdings" panose="05000000000000000000" pitchFamily="2" charset="2"/>
              <a:buChar char="ü"/>
            </a:pPr>
            <a:r>
              <a:rPr lang="en-US" sz="2000" b="1" dirty="0">
                <a:latin typeface="Times New Roman" panose="02020603050405020304" pitchFamily="18" charset="0"/>
                <a:cs typeface="Times New Roman" panose="02020603050405020304" pitchFamily="18" charset="0"/>
              </a:rPr>
              <a:t>Enhancing Maintainability During Development</a:t>
            </a:r>
          </a:p>
          <a:p>
            <a:pPr lvl="1">
              <a:lnSpc>
                <a:spcPct val="150000"/>
              </a:lnSpc>
            </a:pPr>
            <a:r>
              <a:rPr lang="en-US" dirty="0">
                <a:latin typeface="Times New Roman" panose="02020603050405020304" pitchFamily="18" charset="0"/>
                <a:cs typeface="Times New Roman" panose="02020603050405020304" pitchFamily="18" charset="0"/>
              </a:rPr>
              <a:t>Maintainability refers to how easily a software system can be </a:t>
            </a:r>
            <a:r>
              <a:rPr lang="en-US" b="1" dirty="0">
                <a:latin typeface="Times New Roman" panose="02020603050405020304" pitchFamily="18" charset="0"/>
                <a:cs typeface="Times New Roman" panose="02020603050405020304" pitchFamily="18" charset="0"/>
              </a:rPr>
              <a:t>modified, updated, or fixed</a:t>
            </a:r>
            <a:r>
              <a:rPr lang="en-US" dirty="0">
                <a:latin typeface="Times New Roman" panose="02020603050405020304" pitchFamily="18" charset="0"/>
                <a:cs typeface="Times New Roman" panose="02020603050405020304" pitchFamily="18" charset="0"/>
              </a:rPr>
              <a:t> after it is developed. Enhancing maintainability during development means designing and developing software in such a way that </a:t>
            </a:r>
            <a:r>
              <a:rPr lang="en-US" b="1" dirty="0">
                <a:latin typeface="Times New Roman" panose="02020603050405020304" pitchFamily="18" charset="0"/>
                <a:cs typeface="Times New Roman" panose="02020603050405020304" pitchFamily="18" charset="0"/>
              </a:rPr>
              <a:t>future changes can be made easily and efficiently</a:t>
            </a:r>
            <a:r>
              <a:rPr lang="en-US" dirty="0">
                <a:latin typeface="Times New Roman" panose="02020603050405020304" pitchFamily="18" charset="0"/>
                <a:cs typeface="Times New Roman" panose="02020603050405020304" pitchFamily="18" charset="0"/>
              </a:rPr>
              <a:t>.</a:t>
            </a:r>
          </a:p>
          <a:p>
            <a:pPr lvl="1">
              <a:lnSpc>
                <a:spcPct val="150000"/>
              </a:lnSpc>
            </a:pPr>
            <a:r>
              <a:rPr lang="en-US" dirty="0">
                <a:latin typeface="Times New Roman" panose="02020603050405020304" pitchFamily="18" charset="0"/>
                <a:cs typeface="Times New Roman" panose="02020603050405020304" pitchFamily="18" charset="0"/>
              </a:rPr>
              <a:t>Good maintainability reduces cost, saves time, and improves software quality in the long run.</a:t>
            </a:r>
          </a:p>
          <a:p>
            <a:pPr lvl="1">
              <a:lnSpc>
                <a:spcPct val="150000"/>
              </a:lnSpc>
            </a:pPr>
            <a:endParaRPr lang="en-US" dirty="0">
              <a:latin typeface="Times New Roman" panose="02020603050405020304" pitchFamily="18" charset="0"/>
              <a:cs typeface="Times New Roman" panose="02020603050405020304" pitchFamily="18" charset="0"/>
            </a:endParaRPr>
          </a:p>
          <a:p>
            <a:pPr lvl="1">
              <a:lnSpc>
                <a:spcPct val="150000"/>
              </a:lnSpc>
            </a:pPr>
            <a:r>
              <a:rPr lang="en-US" b="1" dirty="0">
                <a:latin typeface="Times New Roman" panose="02020603050405020304" pitchFamily="18" charset="0"/>
                <a:cs typeface="Times New Roman" panose="02020603050405020304" pitchFamily="18" charset="0"/>
              </a:rPr>
              <a:t>How to Enhance Maintainability</a:t>
            </a:r>
          </a:p>
          <a:p>
            <a:pPr lvl="1">
              <a:lnSpc>
                <a:spcPct val="150000"/>
              </a:lnSpc>
            </a:pPr>
            <a:r>
              <a:rPr lang="en-US" b="1" dirty="0">
                <a:latin typeface="Times New Roman" panose="02020603050405020304" pitchFamily="18" charset="0"/>
                <a:cs typeface="Times New Roman" panose="02020603050405020304" pitchFamily="18" charset="0"/>
              </a:rPr>
              <a:t>1. Follow Good Coding Standards</a:t>
            </a:r>
          </a:p>
          <a:p>
            <a:pPr lvl="1">
              <a:lnSpc>
                <a:spcPct val="150000"/>
              </a:lnSpc>
            </a:pPr>
            <a:r>
              <a:rPr lang="en-US" dirty="0">
                <a:latin typeface="Times New Roman" panose="02020603050405020304" pitchFamily="18" charset="0"/>
                <a:cs typeface="Times New Roman" panose="02020603050405020304" pitchFamily="18" charset="0"/>
              </a:rPr>
              <a:t>Writing clean, consistent, and well-structured code makes it easier for developers to understand and modify the system later.</a:t>
            </a:r>
          </a:p>
          <a:p>
            <a:pPr lvl="1">
              <a:lnSpc>
                <a:spcPct val="150000"/>
              </a:lnSpc>
            </a:pPr>
            <a:r>
              <a:rPr lang="en-US" b="1" dirty="0">
                <a:latin typeface="Times New Roman" panose="02020603050405020304" pitchFamily="18" charset="0"/>
                <a:cs typeface="Times New Roman" panose="02020603050405020304" pitchFamily="18" charset="0"/>
              </a:rPr>
              <a:t>2. Use Modular Design</a:t>
            </a:r>
          </a:p>
          <a:p>
            <a:pPr lvl="1">
              <a:lnSpc>
                <a:spcPct val="150000"/>
              </a:lnSpc>
            </a:pPr>
            <a:r>
              <a:rPr lang="en-US" dirty="0">
                <a:latin typeface="Times New Roman" panose="02020603050405020304" pitchFamily="18" charset="0"/>
                <a:cs typeface="Times New Roman" panose="02020603050405020304" pitchFamily="18" charset="0"/>
              </a:rPr>
              <a:t>Divide the system into smaller modules with specific functions. This allows changes to be made in one module without affecting others.</a:t>
            </a:r>
          </a:p>
          <a:p>
            <a:pPr lvl="1">
              <a:lnSpc>
                <a:spcPct val="150000"/>
              </a:lnSpc>
            </a:pPr>
            <a:r>
              <a:rPr lang="en-US" b="1" dirty="0">
                <a:latin typeface="Times New Roman" panose="02020603050405020304" pitchFamily="18" charset="0"/>
                <a:cs typeface="Times New Roman" panose="02020603050405020304" pitchFamily="18" charset="0"/>
              </a:rPr>
              <a:t>3. Maintain High Cohesion and Low Coupling</a:t>
            </a:r>
          </a:p>
          <a:p>
            <a:pPr lvl="1">
              <a:lnSpc>
                <a:spcPct val="150000"/>
              </a:lnSpc>
            </a:pPr>
            <a:r>
              <a:rPr lang="en-US" dirty="0">
                <a:latin typeface="Times New Roman" panose="02020603050405020304" pitchFamily="18" charset="0"/>
                <a:cs typeface="Times New Roman" panose="02020603050405020304" pitchFamily="18" charset="0"/>
              </a:rPr>
              <a:t>Each module should perform a single task (high cohesion) and should not depend heavily on other modules (low coupling).</a:t>
            </a:r>
          </a:p>
        </p:txBody>
      </p:sp>
    </p:spTree>
    <p:extLst>
      <p:ext uri="{BB962C8B-B14F-4D97-AF65-F5344CB8AC3E}">
        <p14:creationId xmlns:p14="http://schemas.microsoft.com/office/powerpoint/2010/main" val="15497879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0B6CBEF-63AA-7DAE-9C11-EBFFDB5ED33E}"/>
              </a:ext>
            </a:extLst>
          </p:cNvPr>
          <p:cNvSpPr txBox="1"/>
          <p:nvPr/>
        </p:nvSpPr>
        <p:spPr>
          <a:xfrm>
            <a:off x="304799" y="321164"/>
            <a:ext cx="11222181" cy="6275051"/>
          </a:xfrm>
          <a:prstGeom prst="rect">
            <a:avLst/>
          </a:prstGeom>
          <a:noFill/>
        </p:spPr>
        <p:txBody>
          <a:bodyPr wrap="square">
            <a:spAutoFit/>
          </a:bodyPr>
          <a:lstStyle/>
          <a:p>
            <a:pPr algn="just">
              <a:lnSpc>
                <a:spcPct val="150000"/>
              </a:lnSpc>
            </a:pPr>
            <a:r>
              <a:rPr lang="en-US" b="1" dirty="0">
                <a:latin typeface="Times New Roman" panose="02020603050405020304" pitchFamily="18" charset="0"/>
                <a:cs typeface="Times New Roman" panose="02020603050405020304" pitchFamily="18" charset="0"/>
              </a:rPr>
              <a:t>4. Proper Documentation</a:t>
            </a:r>
          </a:p>
          <a:p>
            <a:pPr algn="just">
              <a:lnSpc>
                <a:spcPct val="150000"/>
              </a:lnSpc>
            </a:pPr>
            <a:r>
              <a:rPr lang="en-US" dirty="0">
                <a:latin typeface="Times New Roman" panose="02020603050405020304" pitchFamily="18" charset="0"/>
                <a:cs typeface="Times New Roman" panose="02020603050405020304" pitchFamily="18" charset="0"/>
              </a:rPr>
              <a:t>Provide clear documentation for code, design, and system functionality. This helps future developers understand the system easily.</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r>
              <a:rPr lang="en-US" b="1" dirty="0">
                <a:latin typeface="Times New Roman" panose="02020603050405020304" pitchFamily="18" charset="0"/>
                <a:cs typeface="Times New Roman" panose="02020603050405020304" pitchFamily="18" charset="0"/>
              </a:rPr>
              <a:t>5. Use Meaningful Naming Conventions</a:t>
            </a:r>
          </a:p>
          <a:p>
            <a:pPr algn="just">
              <a:lnSpc>
                <a:spcPct val="150000"/>
              </a:lnSpc>
            </a:pPr>
            <a:r>
              <a:rPr lang="en-US" dirty="0">
                <a:latin typeface="Times New Roman" panose="02020603050405020304" pitchFamily="18" charset="0"/>
                <a:cs typeface="Times New Roman" panose="02020603050405020304" pitchFamily="18" charset="0"/>
              </a:rPr>
              <a:t>Variables, functions, and classes should have meaningful names to improve readability.</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r>
              <a:rPr lang="en-US" b="1" dirty="0">
                <a:latin typeface="Times New Roman" panose="02020603050405020304" pitchFamily="18" charset="0"/>
                <a:cs typeface="Times New Roman" panose="02020603050405020304" pitchFamily="18" charset="0"/>
              </a:rPr>
              <a:t>6. Code Reusability</a:t>
            </a:r>
          </a:p>
          <a:p>
            <a:pPr algn="just">
              <a:lnSpc>
                <a:spcPct val="150000"/>
              </a:lnSpc>
            </a:pPr>
            <a:r>
              <a:rPr lang="en-US" dirty="0">
                <a:latin typeface="Times New Roman" panose="02020603050405020304" pitchFamily="18" charset="0"/>
                <a:cs typeface="Times New Roman" panose="02020603050405020304" pitchFamily="18" charset="0"/>
              </a:rPr>
              <a:t>Design components that can be reused. This reduces duplication and simplifies maintenance.</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r>
              <a:rPr lang="en-US" b="1" dirty="0">
                <a:latin typeface="Times New Roman" panose="02020603050405020304" pitchFamily="18" charset="0"/>
                <a:cs typeface="Times New Roman" panose="02020603050405020304" pitchFamily="18" charset="0"/>
              </a:rPr>
              <a:t>7. Regular Testing</a:t>
            </a:r>
          </a:p>
          <a:p>
            <a:pPr algn="just">
              <a:lnSpc>
                <a:spcPct val="150000"/>
              </a:lnSpc>
            </a:pPr>
            <a:r>
              <a:rPr lang="en-US" dirty="0">
                <a:latin typeface="Times New Roman" panose="02020603050405020304" pitchFamily="18" charset="0"/>
                <a:cs typeface="Times New Roman" panose="02020603050405020304" pitchFamily="18" charset="0"/>
              </a:rPr>
              <a:t>Frequent testing helps identify and fix errors early, making the system more stable and easier to maintain.</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r>
              <a:rPr lang="en-US" b="1" dirty="0">
                <a:latin typeface="Times New Roman" panose="02020603050405020304" pitchFamily="18" charset="0"/>
                <a:cs typeface="Times New Roman" panose="02020603050405020304" pitchFamily="18" charset="0"/>
              </a:rPr>
              <a:t>8. Version Control</a:t>
            </a:r>
          </a:p>
          <a:p>
            <a:pPr algn="just">
              <a:lnSpc>
                <a:spcPct val="150000"/>
              </a:lnSpc>
            </a:pPr>
            <a:r>
              <a:rPr lang="en-US" dirty="0">
                <a:latin typeface="Times New Roman" panose="02020603050405020304" pitchFamily="18" charset="0"/>
                <a:cs typeface="Times New Roman" panose="02020603050405020304" pitchFamily="18" charset="0"/>
              </a:rPr>
              <a:t>Using tools like Git helps track changes and manage different versions of the software.</a:t>
            </a:r>
          </a:p>
        </p:txBody>
      </p:sp>
    </p:spTree>
    <p:extLst>
      <p:ext uri="{BB962C8B-B14F-4D97-AF65-F5344CB8AC3E}">
        <p14:creationId xmlns:p14="http://schemas.microsoft.com/office/powerpoint/2010/main" val="33793241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2FE41E-8508-6182-5002-6BA5F3706F6C}"/>
              </a:ext>
            </a:extLst>
          </p:cNvPr>
          <p:cNvSpPr txBox="1"/>
          <p:nvPr/>
        </p:nvSpPr>
        <p:spPr>
          <a:xfrm>
            <a:off x="581891" y="1333009"/>
            <a:ext cx="10764982" cy="4191981"/>
          </a:xfrm>
          <a:prstGeom prst="rect">
            <a:avLst/>
          </a:prstGeom>
          <a:noFill/>
        </p:spPr>
        <p:txBody>
          <a:bodyPr wrap="square">
            <a:spAutoFit/>
          </a:bodyPr>
          <a:lstStyle/>
          <a:p>
            <a:pPr algn="just">
              <a:lnSpc>
                <a:spcPct val="150000"/>
              </a:lnSpc>
            </a:pPr>
            <a:r>
              <a:rPr lang="en-US" sz="2000" b="1" dirty="0">
                <a:latin typeface="Times New Roman" panose="02020603050405020304" pitchFamily="18" charset="0"/>
                <a:cs typeface="Times New Roman" panose="02020603050405020304" pitchFamily="18" charset="0"/>
              </a:rPr>
              <a:t>9. Refactoring</a:t>
            </a:r>
          </a:p>
          <a:p>
            <a:pPr algn="just">
              <a:lnSpc>
                <a:spcPct val="150000"/>
              </a:lnSpc>
            </a:pPr>
            <a:r>
              <a:rPr lang="en-US" sz="2000" dirty="0">
                <a:latin typeface="Times New Roman" panose="02020603050405020304" pitchFamily="18" charset="0"/>
                <a:cs typeface="Times New Roman" panose="02020603050405020304" pitchFamily="18" charset="0"/>
              </a:rPr>
              <a:t>Improving code structure without changing functionality helps keep the system clean and maintainable.</a:t>
            </a:r>
          </a:p>
          <a:p>
            <a:pPr algn="just">
              <a:lnSpc>
                <a:spcPct val="150000"/>
              </a:lnSpc>
            </a:pPr>
            <a:endParaRPr lang="en-US" sz="2000" b="1" dirty="0">
              <a:latin typeface="Times New Roman" panose="02020603050405020304" pitchFamily="18" charset="0"/>
              <a:cs typeface="Times New Roman" panose="02020603050405020304" pitchFamily="18" charset="0"/>
            </a:endParaRPr>
          </a:p>
          <a:p>
            <a:pPr algn="just">
              <a:lnSpc>
                <a:spcPct val="150000"/>
              </a:lnSpc>
            </a:pPr>
            <a:r>
              <a:rPr lang="en-US" sz="2000" b="1" dirty="0">
                <a:latin typeface="Times New Roman" panose="02020603050405020304" pitchFamily="18" charset="0"/>
                <a:cs typeface="Times New Roman" panose="02020603050405020304" pitchFamily="18" charset="0"/>
              </a:rPr>
              <a:t>Benefits</a:t>
            </a:r>
          </a:p>
          <a:p>
            <a:pPr lvl="1"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Easier bug fixing and updates </a:t>
            </a:r>
          </a:p>
          <a:p>
            <a:pPr lvl="1"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Reduced maintenance cost </a:t>
            </a:r>
          </a:p>
          <a:p>
            <a:pPr lvl="1"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Improved software quality </a:t>
            </a:r>
          </a:p>
          <a:p>
            <a:pPr lvl="1"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Faster development of future enhancements </a:t>
            </a:r>
          </a:p>
          <a:p>
            <a:pPr lvl="1"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Better understanding for new developers </a:t>
            </a:r>
          </a:p>
        </p:txBody>
      </p:sp>
    </p:spTree>
    <p:extLst>
      <p:ext uri="{BB962C8B-B14F-4D97-AF65-F5344CB8AC3E}">
        <p14:creationId xmlns:p14="http://schemas.microsoft.com/office/powerpoint/2010/main" val="1715959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06AC4C4-1366-E945-1BCB-647B0B6AE896}"/>
              </a:ext>
            </a:extLst>
          </p:cNvPr>
          <p:cNvSpPr txBox="1"/>
          <p:nvPr/>
        </p:nvSpPr>
        <p:spPr>
          <a:xfrm>
            <a:off x="277091" y="234169"/>
            <a:ext cx="11637818" cy="6592639"/>
          </a:xfrm>
          <a:prstGeom prst="rect">
            <a:avLst/>
          </a:prstGeom>
          <a:noFill/>
        </p:spPr>
        <p:txBody>
          <a:bodyPr wrap="square">
            <a:spAutoFit/>
          </a:bodyPr>
          <a:lstStyle/>
          <a:p>
            <a:pPr marL="342900" indent="-342900" algn="just">
              <a:lnSpc>
                <a:spcPct val="150000"/>
              </a:lnSpc>
              <a:buFont typeface="Wingdings" panose="05000000000000000000" pitchFamily="2" charset="2"/>
              <a:buChar char="ü"/>
            </a:pPr>
            <a:r>
              <a:rPr lang="en-US" sz="2400" b="1" dirty="0">
                <a:latin typeface="Times New Roman" panose="02020603050405020304" pitchFamily="18" charset="0"/>
                <a:cs typeface="Times New Roman" panose="02020603050405020304" pitchFamily="18" charset="0"/>
              </a:rPr>
              <a:t>Relationship Between Testing and Maintenance</a:t>
            </a:r>
          </a:p>
          <a:p>
            <a:pPr lvl="1" algn="just">
              <a:lnSpc>
                <a:spcPct val="150000"/>
              </a:lnSpc>
            </a:pPr>
            <a:r>
              <a:rPr lang="en-US" sz="2000" dirty="0">
                <a:latin typeface="Times New Roman" panose="02020603050405020304" pitchFamily="18" charset="0"/>
                <a:cs typeface="Times New Roman" panose="02020603050405020304" pitchFamily="18" charset="0"/>
              </a:rPr>
              <a:t>Testing and maintenance are closely related activities in the software development life cycle. After a software system is deployed, it enters the </a:t>
            </a:r>
            <a:r>
              <a:rPr lang="en-US" sz="2000" b="1" dirty="0">
                <a:latin typeface="Times New Roman" panose="02020603050405020304" pitchFamily="18" charset="0"/>
                <a:cs typeface="Times New Roman" panose="02020603050405020304" pitchFamily="18" charset="0"/>
              </a:rPr>
              <a:t>maintenance phase</a:t>
            </a:r>
            <a:r>
              <a:rPr lang="en-US" sz="2000" dirty="0">
                <a:latin typeface="Times New Roman" panose="02020603050405020304" pitchFamily="18" charset="0"/>
                <a:cs typeface="Times New Roman" panose="02020603050405020304" pitchFamily="18" charset="0"/>
              </a:rPr>
              <a:t>, where changes such as bug fixes, updates, and enhancements are made. Since these changes can introduce new errors, </a:t>
            </a:r>
            <a:r>
              <a:rPr lang="en-US" sz="2000" b="1" dirty="0">
                <a:latin typeface="Times New Roman" panose="02020603050405020304" pitchFamily="18" charset="0"/>
                <a:cs typeface="Times New Roman" panose="02020603050405020304" pitchFamily="18" charset="0"/>
              </a:rPr>
              <a:t>testing becomes essential to ensure the system continues to function correctly</a:t>
            </a:r>
            <a:r>
              <a:rPr lang="en-US" sz="2000" dirty="0">
                <a:latin typeface="Times New Roman" panose="02020603050405020304" pitchFamily="18" charset="0"/>
                <a:cs typeface="Times New Roman" panose="02020603050405020304" pitchFamily="18" charset="0"/>
              </a:rPr>
              <a:t>.</a:t>
            </a:r>
          </a:p>
          <a:p>
            <a:pPr algn="just">
              <a:lnSpc>
                <a:spcPct val="150000"/>
              </a:lnSpc>
            </a:pP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b="1" dirty="0">
                <a:latin typeface="Times New Roman" panose="02020603050405020304" pitchFamily="18" charset="0"/>
                <a:cs typeface="Times New Roman" panose="02020603050405020304" pitchFamily="18" charset="0"/>
              </a:rPr>
              <a:t>Relationship Explanation</a:t>
            </a:r>
          </a:p>
          <a:p>
            <a:pPr lvl="1" algn="just">
              <a:lnSpc>
                <a:spcPct val="150000"/>
              </a:lnSpc>
            </a:pPr>
            <a:r>
              <a:rPr lang="en-US" sz="2000" dirty="0">
                <a:latin typeface="Times New Roman" panose="02020603050405020304" pitchFamily="18" charset="0"/>
                <a:cs typeface="Times New Roman" panose="02020603050405020304" pitchFamily="18" charset="0"/>
              </a:rPr>
              <a:t>Maintenance involves modifying the software, while testing ensures that these modifications are </a:t>
            </a:r>
            <a:r>
              <a:rPr lang="en-US" sz="2000" b="1" dirty="0">
                <a:latin typeface="Times New Roman" panose="02020603050405020304" pitchFamily="18" charset="0"/>
                <a:cs typeface="Times New Roman" panose="02020603050405020304" pitchFamily="18" charset="0"/>
              </a:rPr>
              <a:t>correct, complete, and do not affect existing functionalities</a:t>
            </a:r>
            <a:r>
              <a:rPr lang="en-US" sz="2000" dirty="0">
                <a:latin typeface="Times New Roman" panose="02020603050405020304" pitchFamily="18" charset="0"/>
                <a:cs typeface="Times New Roman" panose="02020603050405020304" pitchFamily="18" charset="0"/>
              </a:rPr>
              <a:t>. Every change made during maintenance must be followed by appropriate testing. Thus, testing acts as a </a:t>
            </a:r>
            <a:r>
              <a:rPr lang="en-US" sz="2000" b="1" dirty="0">
                <a:latin typeface="Times New Roman" panose="02020603050405020304" pitchFamily="18" charset="0"/>
                <a:cs typeface="Times New Roman" panose="02020603050405020304" pitchFamily="18" charset="0"/>
              </a:rPr>
              <a:t>verification and validation mechanism</a:t>
            </a:r>
            <a:r>
              <a:rPr lang="en-US" sz="2000" dirty="0">
                <a:latin typeface="Times New Roman" panose="02020603050405020304" pitchFamily="18" charset="0"/>
                <a:cs typeface="Times New Roman" panose="02020603050405020304" pitchFamily="18" charset="0"/>
              </a:rPr>
              <a:t> during maintenance.</a:t>
            </a:r>
          </a:p>
          <a:p>
            <a:pPr lvl="1" algn="just">
              <a:lnSpc>
                <a:spcPct val="150000"/>
              </a:lnSpc>
            </a:pPr>
            <a:r>
              <a:rPr lang="en-US" sz="2000" dirty="0">
                <a:latin typeface="Times New Roman" panose="02020603050405020304" pitchFamily="18" charset="0"/>
                <a:cs typeface="Times New Roman" panose="02020603050405020304" pitchFamily="18" charset="0"/>
              </a:rPr>
              <a:t>Without proper testing, maintenance activities may degrade system performance or introduce new defects. Therefore, testing supports maintenance by maintaining the </a:t>
            </a:r>
            <a:r>
              <a:rPr lang="en-US" sz="2000" b="1" dirty="0">
                <a:latin typeface="Times New Roman" panose="02020603050405020304" pitchFamily="18" charset="0"/>
                <a:cs typeface="Times New Roman" panose="02020603050405020304" pitchFamily="18" charset="0"/>
              </a:rPr>
              <a:t>quality, reliability, and stability</a:t>
            </a:r>
            <a:r>
              <a:rPr lang="en-US" sz="2000" dirty="0">
                <a:latin typeface="Times New Roman" panose="02020603050405020304" pitchFamily="18" charset="0"/>
                <a:cs typeface="Times New Roman" panose="02020603050405020304" pitchFamily="18" charset="0"/>
              </a:rPr>
              <a:t> of the software.</a:t>
            </a:r>
          </a:p>
        </p:txBody>
      </p:sp>
    </p:spTree>
    <p:extLst>
      <p:ext uri="{BB962C8B-B14F-4D97-AF65-F5344CB8AC3E}">
        <p14:creationId xmlns:p14="http://schemas.microsoft.com/office/powerpoint/2010/main" val="21005925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B6902F0-8668-9B0A-1013-F71A8A478B06}"/>
              </a:ext>
            </a:extLst>
          </p:cNvPr>
          <p:cNvSpPr txBox="1"/>
          <p:nvPr/>
        </p:nvSpPr>
        <p:spPr>
          <a:xfrm>
            <a:off x="464127" y="594345"/>
            <a:ext cx="11263746" cy="5669309"/>
          </a:xfrm>
          <a:prstGeom prst="rect">
            <a:avLst/>
          </a:prstGeom>
          <a:noFill/>
        </p:spPr>
        <p:txBody>
          <a:bodyPr wrap="square">
            <a:spAutoFit/>
          </a:bodyPr>
          <a:lstStyle/>
          <a:p>
            <a:pPr algn="just">
              <a:lnSpc>
                <a:spcPct val="150000"/>
              </a:lnSpc>
            </a:pPr>
            <a:r>
              <a:rPr lang="en-US" sz="2000" b="1" dirty="0">
                <a:latin typeface="Times New Roman" panose="02020603050405020304" pitchFamily="18" charset="0"/>
                <a:cs typeface="Times New Roman" panose="02020603050405020304" pitchFamily="18" charset="0"/>
              </a:rPr>
              <a:t>Testing Activities During Maintenance</a:t>
            </a:r>
          </a:p>
          <a:p>
            <a:pPr lvl="1" algn="just">
              <a:lnSpc>
                <a:spcPct val="150000"/>
              </a:lnSpc>
            </a:pPr>
            <a:r>
              <a:rPr lang="en-US" sz="2000" b="1" dirty="0">
                <a:latin typeface="Times New Roman" panose="02020603050405020304" pitchFamily="18" charset="0"/>
                <a:cs typeface="Times New Roman" panose="02020603050405020304" pitchFamily="18" charset="0"/>
              </a:rPr>
              <a:t>1. Regression Testing</a:t>
            </a:r>
          </a:p>
          <a:p>
            <a:pPr lvl="2" algn="just">
              <a:lnSpc>
                <a:spcPct val="150000"/>
              </a:lnSpc>
            </a:pPr>
            <a:r>
              <a:rPr lang="en-US" sz="2000" dirty="0">
                <a:latin typeface="Times New Roman" panose="02020603050405020304" pitchFamily="18" charset="0"/>
                <a:cs typeface="Times New Roman" panose="02020603050405020304" pitchFamily="18" charset="0"/>
              </a:rPr>
              <a:t>Regression testing ensures that </a:t>
            </a:r>
            <a:r>
              <a:rPr lang="en-US" sz="2000" b="1" dirty="0">
                <a:latin typeface="Times New Roman" panose="02020603050405020304" pitchFamily="18" charset="0"/>
                <a:cs typeface="Times New Roman" panose="02020603050405020304" pitchFamily="18" charset="0"/>
              </a:rPr>
              <a:t>existing features continue to work correctly</a:t>
            </a:r>
            <a:r>
              <a:rPr lang="en-US" sz="2000" dirty="0">
                <a:latin typeface="Times New Roman" panose="02020603050405020304" pitchFamily="18" charset="0"/>
                <a:cs typeface="Times New Roman" panose="02020603050405020304" pitchFamily="18" charset="0"/>
              </a:rPr>
              <a:t> after changes are made. It is the most important testing activity during maintenance.</a:t>
            </a:r>
          </a:p>
          <a:p>
            <a:pPr lvl="1" algn="just">
              <a:lnSpc>
                <a:spcPct val="150000"/>
              </a:lnSpc>
            </a:pPr>
            <a:r>
              <a:rPr lang="en-US" sz="2000" b="1" dirty="0">
                <a:latin typeface="Times New Roman" panose="02020603050405020304" pitchFamily="18" charset="0"/>
                <a:cs typeface="Times New Roman" panose="02020603050405020304" pitchFamily="18" charset="0"/>
              </a:rPr>
              <a:t>2. Re-testing</a:t>
            </a:r>
          </a:p>
          <a:p>
            <a:pPr lvl="1" algn="just">
              <a:lnSpc>
                <a:spcPct val="150000"/>
              </a:lnSpc>
            </a:pPr>
            <a:r>
              <a:rPr lang="en-US" sz="2000" dirty="0">
                <a:latin typeface="Times New Roman" panose="02020603050405020304" pitchFamily="18" charset="0"/>
                <a:cs typeface="Times New Roman" panose="02020603050405020304" pitchFamily="18" charset="0"/>
              </a:rPr>
              <a:t>	Re-testing is performed to confirm that </a:t>
            </a:r>
            <a:r>
              <a:rPr lang="en-US" sz="2000" b="1" dirty="0">
                <a:latin typeface="Times New Roman" panose="02020603050405020304" pitchFamily="18" charset="0"/>
                <a:cs typeface="Times New Roman" panose="02020603050405020304" pitchFamily="18" charset="0"/>
              </a:rPr>
              <a:t>previously identified defects have been fixed properly</a:t>
            </a:r>
            <a:r>
              <a:rPr lang="en-US" sz="2000" dirty="0">
                <a:latin typeface="Times New Roman" panose="02020603050405020304" pitchFamily="18" charset="0"/>
                <a:cs typeface="Times New Roman" panose="02020603050405020304" pitchFamily="18" charset="0"/>
              </a:rPr>
              <a:t>.</a:t>
            </a:r>
          </a:p>
          <a:p>
            <a:pPr lvl="1" algn="just">
              <a:lnSpc>
                <a:spcPct val="150000"/>
              </a:lnSpc>
            </a:pPr>
            <a:r>
              <a:rPr lang="en-US" sz="2000" b="1" dirty="0">
                <a:latin typeface="Times New Roman" panose="02020603050405020304" pitchFamily="18" charset="0"/>
                <a:cs typeface="Times New Roman" panose="02020603050405020304" pitchFamily="18" charset="0"/>
              </a:rPr>
              <a:t>3. Integration Testing</a:t>
            </a:r>
          </a:p>
          <a:p>
            <a:pPr lvl="1" algn="just">
              <a:lnSpc>
                <a:spcPct val="150000"/>
              </a:lnSpc>
            </a:pPr>
            <a:r>
              <a:rPr lang="en-US" sz="2000" dirty="0">
                <a:latin typeface="Times New Roman" panose="02020603050405020304" pitchFamily="18" charset="0"/>
                <a:cs typeface="Times New Roman" panose="02020603050405020304" pitchFamily="18" charset="0"/>
              </a:rPr>
              <a:t>	Ensures that modified modules </a:t>
            </a:r>
            <a:r>
              <a:rPr lang="en-US" sz="2000" b="1" dirty="0">
                <a:latin typeface="Times New Roman" panose="02020603050405020304" pitchFamily="18" charset="0"/>
                <a:cs typeface="Times New Roman" panose="02020603050405020304" pitchFamily="18" charset="0"/>
              </a:rPr>
              <a:t>work correctly with other parts of the system</a:t>
            </a:r>
            <a:r>
              <a:rPr lang="en-US" sz="2000" dirty="0">
                <a:latin typeface="Times New Roman" panose="02020603050405020304" pitchFamily="18" charset="0"/>
                <a:cs typeface="Times New Roman" panose="02020603050405020304" pitchFamily="18" charset="0"/>
              </a:rPr>
              <a:t>.</a:t>
            </a:r>
          </a:p>
          <a:p>
            <a:pPr lvl="1" algn="just">
              <a:lnSpc>
                <a:spcPct val="150000"/>
              </a:lnSpc>
            </a:pPr>
            <a:r>
              <a:rPr lang="en-US" sz="2000" b="1" dirty="0">
                <a:latin typeface="Times New Roman" panose="02020603050405020304" pitchFamily="18" charset="0"/>
                <a:cs typeface="Times New Roman" panose="02020603050405020304" pitchFamily="18" charset="0"/>
              </a:rPr>
              <a:t>4. System Testing</a:t>
            </a:r>
          </a:p>
          <a:p>
            <a:pPr lvl="1" algn="just">
              <a:lnSpc>
                <a:spcPct val="150000"/>
              </a:lnSpc>
            </a:pPr>
            <a:r>
              <a:rPr lang="en-US" sz="2000" dirty="0">
                <a:latin typeface="Times New Roman" panose="02020603050405020304" pitchFamily="18" charset="0"/>
                <a:cs typeface="Times New Roman" panose="02020603050405020304" pitchFamily="18" charset="0"/>
              </a:rPr>
              <a:t>	Tests the complete system after changes to ensure overall functionality and performance.</a:t>
            </a:r>
          </a:p>
          <a:p>
            <a:pPr algn="just">
              <a:lnSpc>
                <a:spcPct val="150000"/>
              </a:lnSpc>
            </a:pPr>
            <a:endParaRPr lang="en-US" sz="2000" dirty="0">
              <a:latin typeface="Times New Roman" panose="02020603050405020304" pitchFamily="18" charset="0"/>
              <a:cs typeface="Times New Roman" panose="02020603050405020304" pitchFamily="18" charset="0"/>
            </a:endParaRPr>
          </a:p>
          <a:p>
            <a:pPr algn="just">
              <a:lnSpc>
                <a:spcPct val="150000"/>
              </a:lnSpc>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68018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258</TotalTime>
  <Words>2698</Words>
  <Application>Microsoft Office PowerPoint</Application>
  <PresentationFormat>Widescreen</PresentationFormat>
  <Paragraphs>239</Paragraphs>
  <Slides>28</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ANNA POPS</dc:creator>
  <cp:lastModifiedBy>ANNA POPS</cp:lastModifiedBy>
  <cp:revision>27</cp:revision>
  <dcterms:created xsi:type="dcterms:W3CDTF">2026-03-20T03:55:05Z</dcterms:created>
  <dcterms:modified xsi:type="dcterms:W3CDTF">2026-10-01T05:57:14Z</dcterms:modified>
</cp:coreProperties>
</file>